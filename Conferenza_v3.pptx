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9"/>
  </p:notesMasterIdLst>
  <p:sldIdLst>
    <p:sldId id="262" r:id="rId6"/>
    <p:sldId id="263" r:id="rId7"/>
    <p:sldId id="264" r:id="rId8"/>
    <p:sldId id="265" r:id="rId22"/>
    <p:sldId id="266" r:id="rId23"/>
  </p:sldIdLst>
  <p:sldSz cx="12192000" cy="6858000"/>
  <p:notesSz cx="6858000" cy="9144000"/>
  <p:embeddedFontLst>
    <p:embeddedFont>
      <p:font typeface="Aharoni" panose="02010803020104030203" pitchFamily="2" charset="-79"/>
      <p:bold r:id="rId10"/>
    </p:embeddedFont>
    <p:embeddedFont>
      <p:font typeface="Play" panose="020B0604020202020204" charset="0"/>
      <p:regular r:id="rId11"/>
      <p:bold r:id="rId12"/>
    </p:embeddedFont>
    <p:embeddedFont>
      <p:font typeface="Roboto" panose="02000000000000000000" pitchFamily="2" charset="0"/>
      <p:regular r:id="rId13"/>
      <p:bold r:id="rId14"/>
      <p:italic r:id="rId15"/>
      <p:boldItalic r:id="rId1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7" roundtripDataSignature="AMtx7mjOnG3QAiK9uOY1UGkg2o75pjUHZ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font" Target="fonts/font1.fntdata"/><Relationship Id="rId11" Type="http://schemas.openxmlformats.org/officeDocument/2006/relationships/font" Target="fonts/font2.fntdata"/><Relationship Id="rId12" Type="http://schemas.openxmlformats.org/officeDocument/2006/relationships/font" Target="fonts/font3.fntdata"/><Relationship Id="rId13" Type="http://schemas.openxmlformats.org/officeDocument/2006/relationships/font" Target="fonts/font4.fntdata"/><Relationship Id="rId14" Type="http://schemas.openxmlformats.org/officeDocument/2006/relationships/font" Target="fonts/font5.fntdata"/><Relationship Id="rId15" Type="http://schemas.openxmlformats.org/officeDocument/2006/relationships/font" Target="fonts/font6.fntdata"/><Relationship Id="rId16" Type="http://schemas.openxmlformats.org/officeDocument/2006/relationships/font" Target="fonts/font7.fntdata"/><Relationship Id="rId17" Type="http://customschemas.google.com/relationships/presentationmetadata" Target="metadata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Relationship Id="rId22" Type="http://schemas.openxmlformats.org/officeDocument/2006/relationships/slide" Target="slides/slide8.xml"/><Relationship Id="rId23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>
          <a:extLst>
            <a:ext uri="{FF2B5EF4-FFF2-40B4-BE49-F238E27FC236}">
              <a16:creationId xmlns:a16="http://schemas.microsoft.com/office/drawing/2014/main" id="{AE64C3D7-70F3-200C-72D3-F026622A71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>
            <a:extLst>
              <a:ext uri="{FF2B5EF4-FFF2-40B4-BE49-F238E27FC236}">
                <a16:creationId xmlns:a16="http://schemas.microsoft.com/office/drawing/2014/main" id="{4DE4EC88-47EC-2563-A326-7301A4AF69E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2" name="Google Shape;82;p1:notes">
            <a:extLst>
              <a:ext uri="{FF2B5EF4-FFF2-40B4-BE49-F238E27FC236}">
                <a16:creationId xmlns:a16="http://schemas.microsoft.com/office/drawing/2014/main" id="{CF94A071-887E-7938-60A6-05AF8EF128C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49366477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>
          <a:extLst>
            <a:ext uri="{FF2B5EF4-FFF2-40B4-BE49-F238E27FC236}">
              <a16:creationId xmlns:a16="http://schemas.microsoft.com/office/drawing/2014/main" id="{0A0D453D-09C3-672C-53C4-301EA30EFA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>
            <a:extLst>
              <a:ext uri="{FF2B5EF4-FFF2-40B4-BE49-F238E27FC236}">
                <a16:creationId xmlns:a16="http://schemas.microsoft.com/office/drawing/2014/main" id="{0CECD2C1-8160-318F-7C7B-AB4107A95E3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2" name="Google Shape;82;p1:notes">
            <a:extLst>
              <a:ext uri="{FF2B5EF4-FFF2-40B4-BE49-F238E27FC236}">
                <a16:creationId xmlns:a16="http://schemas.microsoft.com/office/drawing/2014/main" id="{25D7C31C-AA06-61D8-CDE5-93AC1F468F1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19239416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>
          <a:extLst>
            <a:ext uri="{FF2B5EF4-FFF2-40B4-BE49-F238E27FC236}">
              <a16:creationId xmlns:a16="http://schemas.microsoft.com/office/drawing/2014/main" id="{50E8D5A0-3C35-8D5B-09F0-11328445D9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>
            <a:extLst>
              <a:ext uri="{FF2B5EF4-FFF2-40B4-BE49-F238E27FC236}">
                <a16:creationId xmlns:a16="http://schemas.microsoft.com/office/drawing/2014/main" id="{61AB4C2C-8407-A0B6-8BEE-32764D42B3E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2" name="Google Shape;82;p1:notes">
            <a:extLst>
              <a:ext uri="{FF2B5EF4-FFF2-40B4-BE49-F238E27FC236}">
                <a16:creationId xmlns:a16="http://schemas.microsoft.com/office/drawing/2014/main" id="{B6051FC1-0900-3C0A-E7DC-2975691F23D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421067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uota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titolo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olo e contenuto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testazione sezione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9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9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ue contenuti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1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fronto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1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1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11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1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1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lo titolo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uto con didascalia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3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3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13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magine con didascalia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4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4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olo e testo verticale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5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olo e testo verticale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6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‹N›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sz="4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Google Shape;9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Google Shape;10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‹N›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>
          <a:extLst>
            <a:ext uri="{FF2B5EF4-FFF2-40B4-BE49-F238E27FC236}">
              <a16:creationId xmlns:a16="http://schemas.microsoft.com/office/drawing/2014/main" id="{880FA986-E245-D1E6-1673-0C071C1FEC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>
            <a:extLst>
              <a:ext uri="{FF2B5EF4-FFF2-40B4-BE49-F238E27FC236}">
                <a16:creationId xmlns:a16="http://schemas.microsoft.com/office/drawing/2014/main" id="{F9AA8F01-71C6-9ED8-9184-324DAFCBF8AE}"/>
              </a:ext>
            </a:extLst>
          </p:cNvPr>
          <p:cNvSpPr/>
          <p:nvPr/>
        </p:nvSpPr>
        <p:spPr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1">
            <a:extLst>
              <a:ext uri="{FF2B5EF4-FFF2-40B4-BE49-F238E27FC236}">
                <a16:creationId xmlns:a16="http://schemas.microsoft.com/office/drawing/2014/main" id="{7B5FD44C-3915-8A84-34C5-CFCAD6E56386}"/>
              </a:ext>
            </a:extLst>
          </p:cNvPr>
          <p:cNvSpPr/>
          <p:nvPr/>
        </p:nvSpPr>
        <p:spPr>
          <a:xfrm rot="-5400000">
            <a:off x="-2250757" y="2250757"/>
            <a:ext cx="6858000" cy="2356485"/>
          </a:xfrm>
          <a:custGeom>
            <a:avLst/>
            <a:gdLst/>
            <a:ahLst/>
            <a:cxnLst/>
            <a:rect l="l" t="t" r="r" b="b"/>
            <a:pathLst>
              <a:path w="872" h="453" extrusionOk="0">
                <a:moveTo>
                  <a:pt x="0" y="0"/>
                </a:moveTo>
                <a:cubicBezTo>
                  <a:pt x="0" y="453"/>
                  <a:pt x="0" y="453"/>
                  <a:pt x="0" y="453"/>
                </a:cubicBezTo>
                <a:cubicBezTo>
                  <a:pt x="23" y="401"/>
                  <a:pt x="52" y="353"/>
                  <a:pt x="87" y="310"/>
                </a:cubicBezTo>
                <a:cubicBezTo>
                  <a:pt x="94" y="301"/>
                  <a:pt x="101" y="293"/>
                  <a:pt x="108" y="284"/>
                </a:cubicBezTo>
                <a:cubicBezTo>
                  <a:pt x="116" y="275"/>
                  <a:pt x="125" y="266"/>
                  <a:pt x="133" y="258"/>
                </a:cubicBezTo>
                <a:cubicBezTo>
                  <a:pt x="248" y="143"/>
                  <a:pt x="406" y="72"/>
                  <a:pt x="581" y="72"/>
                </a:cubicBezTo>
                <a:cubicBezTo>
                  <a:pt x="872" y="72"/>
                  <a:pt x="872" y="72"/>
                  <a:pt x="872" y="72"/>
                </a:cubicBezTo>
                <a:cubicBezTo>
                  <a:pt x="872" y="0"/>
                  <a:pt x="872" y="0"/>
                  <a:pt x="872" y="0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002060"/>
              </a:gs>
              <a:gs pos="14000">
                <a:srgbClr val="0070C0"/>
              </a:gs>
              <a:gs pos="100000">
                <a:srgbClr val="FCFEF3"/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150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rPr lang="it-IT" sz="1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1">
            <a:extLst>
              <a:ext uri="{FF2B5EF4-FFF2-40B4-BE49-F238E27FC236}">
                <a16:creationId xmlns:a16="http://schemas.microsoft.com/office/drawing/2014/main" id="{F2D6A3D4-7E24-13AC-F57E-009DA7E3C023}"/>
              </a:ext>
            </a:extLst>
          </p:cNvPr>
          <p:cNvSpPr txBox="1"/>
          <p:nvPr/>
        </p:nvSpPr>
        <p:spPr>
          <a:xfrm>
            <a:off x="2518913" y="103516"/>
            <a:ext cx="7375500" cy="95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it-IT" sz="2800" b="1" i="0" u="none" strike="noStrike" cap="none" dirty="0">
                <a:solidFill>
                  <a:srgbClr val="C00000"/>
                </a:solidFill>
                <a:latin typeface="Aharoni"/>
                <a:ea typeface="Aharoni"/>
                <a:cs typeface="Aharoni"/>
                <a:sym typeface="Aharoni"/>
              </a:rPr>
              <a:t>Arbitri Beach Volley - Panoramica</a:t>
            </a:r>
            <a:endParaRPr sz="2800" b="1" i="0" u="none" strike="noStrike" cap="none" dirty="0">
              <a:solidFill>
                <a:srgbClr val="C00000"/>
              </a:solidFill>
              <a:latin typeface="Aharoni"/>
              <a:ea typeface="Aharoni"/>
              <a:cs typeface="Aharoni"/>
              <a:sym typeface="Aharon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sz="2800" b="1" i="0" u="none" strike="noStrike" cap="none" dirty="0">
              <a:solidFill>
                <a:srgbClr val="C00000"/>
              </a:solidFill>
              <a:latin typeface="Aharoni"/>
              <a:ea typeface="Aharoni"/>
              <a:cs typeface="Aharoni"/>
              <a:sym typeface="Aharoni"/>
            </a:endParaRPr>
          </a:p>
        </p:txBody>
      </p:sp>
      <p:pic>
        <p:nvPicPr>
          <p:cNvPr id="2" name="image7.png" descr="Immagine che contiene Elementi grafici, clipart, disegno, grafica&#10;&#10;Il contenuto generato dall'IA potrebbe non essere corretto.">
            <a:extLst>
              <a:ext uri="{FF2B5EF4-FFF2-40B4-BE49-F238E27FC236}">
                <a16:creationId xmlns:a16="http://schemas.microsoft.com/office/drawing/2014/main" id="{1654FBDF-5C18-C86A-3BD8-F4F32637A8DF}"/>
              </a:ext>
            </a:extLst>
          </p:cNvPr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125307" y="5773102"/>
            <a:ext cx="1290320" cy="1001395"/>
          </a:xfrm>
          <a:prstGeom prst="rect">
            <a:avLst/>
          </a:prstGeom>
          <a:ln/>
        </p:spPr>
      </p:pic>
      <p:sp>
        <p:nvSpPr>
          <p:cNvPr id="87" name="TextBox 86"/>
          <p:cNvSpPr txBox="1"/>
          <p:nvPr/>
        </p:nvSpPr>
        <p:spPr>
          <a:xfrm>
            <a:off x="410714" y="1085649"/>
            <a:ext cx="3043687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33333"/>
                </a:solidFill>
                <a:latin typeface="Calibri"/>
              </a:rPr>
              <a:t>65 Arbitri  |  15 Supervisori  |  Età media: 40 anni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410714" y="1500000"/>
            <a:ext cx="3043687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Calibri"/>
              </a:rPr>
              <a:t>Arbitri attivi 2024-25: 25 su 65 (38%)</a:t>
            </a:r>
          </a:p>
        </p:txBody>
      </p:sp>
      <p:graphicFrame>
        <p:nvGraphicFramePr>
          <p:cNvPr id="89" name="Table 88"/>
          <p:cNvGraphicFramePr>
            <a:graphicFrameLocks noGrp="1"/>
          </p:cNvGraphicFramePr>
          <p:nvPr/>
        </p:nvGraphicFramePr>
        <p:xfrm>
          <a:off x="3500000" y="1050000"/>
          <a:ext cx="4200000" cy="23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0000"/>
                <a:gridCol w="2100000"/>
              </a:tblGrid>
              <a:tr h="23000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Roboto"/>
                        </a:rPr>
                        <a:t>Comitato</a:t>
                      </a:r>
                    </a:p>
                  </a:txBody>
                  <a:tcPr>
                    <a:solidFill>
                      <a:srgbClr val="35685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Roboto"/>
                        </a:rPr>
                        <a:t>Nr. Arbitri</a:t>
                      </a:r>
                    </a:p>
                  </a:txBody>
                  <a:tcPr>
                    <a:solidFill>
                      <a:srgbClr val="356854"/>
                    </a:solidFill>
                  </a:tcPr>
                </a:tc>
              </a:tr>
              <a:tr h="23000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Roboto"/>
                        </a:rPr>
                        <a:t>Romagna Uno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Roboto"/>
                        </a:rPr>
                        <a:t>18</a:t>
                      </a:r>
                    </a:p>
                  </a:txBody>
                  <a:tcPr/>
                </a:tc>
              </a:tr>
              <a:tr h="23000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Roboto"/>
                        </a:rPr>
                        <a:t>Bologna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Roboto"/>
                        </a:rPr>
                        <a:t>14</a:t>
                      </a:r>
                    </a:p>
                  </a:txBody>
                  <a:tcPr/>
                </a:tc>
              </a:tr>
              <a:tr h="23000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Roboto"/>
                        </a:rPr>
                        <a:t>Modena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Roboto"/>
                        </a:rPr>
                        <a:t>10</a:t>
                      </a:r>
                    </a:p>
                  </a:txBody>
                  <a:tcPr/>
                </a:tc>
              </a:tr>
              <a:tr h="23000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Roboto"/>
                        </a:rPr>
                        <a:t>Parma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Roboto"/>
                        </a:rPr>
                        <a:t>5</a:t>
                      </a:r>
                    </a:p>
                  </a:txBody>
                  <a:tcPr/>
                </a:tc>
              </a:tr>
              <a:tr h="23000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Roboto"/>
                        </a:rPr>
                        <a:t>Ravenna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Roboto"/>
                        </a:rPr>
                        <a:t>5</a:t>
                      </a:r>
                    </a:p>
                  </a:txBody>
                  <a:tcPr/>
                </a:tc>
              </a:tr>
              <a:tr h="23000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Roboto"/>
                        </a:rPr>
                        <a:t>Piacenza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Roboto"/>
                        </a:rPr>
                        <a:t>3</a:t>
                      </a:r>
                    </a:p>
                  </a:txBody>
                  <a:tcPr/>
                </a:tc>
              </a:tr>
              <a:tr h="23000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Roboto"/>
                        </a:rPr>
                        <a:t>Reggio Emilia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Roboto"/>
                        </a:rPr>
                        <a:t>3</a:t>
                      </a:r>
                    </a:p>
                  </a:txBody>
                  <a:tcPr/>
                </a:tc>
              </a:tr>
              <a:tr h="23000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Roboto"/>
                        </a:rPr>
                        <a:t>Ferrara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Roboto"/>
                        </a:rPr>
                        <a:t>2</a:t>
                      </a:r>
                    </a:p>
                  </a:txBody>
                  <a:tcPr/>
                </a:tc>
              </a:tr>
              <a:tr h="23000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000000"/>
                          </a:solidFill>
                          <a:latin typeface="Roboto"/>
                        </a:rPr>
                        <a:t>TOTALE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Roboto"/>
                        </a:rPr>
                        <a:t>65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90" name="TextBox 89"/>
          <p:cNvSpPr txBox="1"/>
          <p:nvPr/>
        </p:nvSpPr>
        <p:spPr>
          <a:xfrm>
            <a:off x="410714" y="3400000"/>
            <a:ext cx="3043687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C00000"/>
                </a:solidFill>
                <a:latin typeface="Aharoni"/>
              </a:rPr>
              <a:t>Distribuzione per Qualifica</a:t>
            </a:r>
          </a:p>
        </p:txBody>
      </p:sp>
      <p:graphicFrame>
        <p:nvGraphicFramePr>
          <p:cNvPr id="91" name="Table 90"/>
          <p:cNvGraphicFramePr>
            <a:graphicFrameLocks noGrp="1"/>
          </p:cNvGraphicFramePr>
          <p:nvPr/>
        </p:nvGraphicFramePr>
        <p:xfrm>
          <a:off x="3500000" y="3500000"/>
          <a:ext cx="4200000" cy="11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0000"/>
                <a:gridCol w="2100000"/>
              </a:tblGrid>
              <a:tr h="27500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Roboto"/>
                        </a:rPr>
                        <a:t>Qualifica</a:t>
                      </a:r>
                    </a:p>
                  </a:txBody>
                  <a:tcPr>
                    <a:solidFill>
                      <a:srgbClr val="35685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Roboto"/>
                        </a:rPr>
                        <a:t>Nr. Arbitri</a:t>
                      </a:r>
                    </a:p>
                  </a:txBody>
                  <a:tcPr>
                    <a:solidFill>
                      <a:srgbClr val="356854"/>
                    </a:solidFill>
                  </a:tcPr>
                </a:tc>
              </a:tr>
              <a:tr h="27500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Roboto"/>
                        </a:rPr>
                        <a:t>PR - Provinciale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Roboto"/>
                        </a:rPr>
                        <a:t>~20</a:t>
                      </a:r>
                    </a:p>
                  </a:txBody>
                  <a:tcPr/>
                </a:tc>
              </a:tr>
              <a:tr h="27500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Roboto"/>
                        </a:rPr>
                        <a:t>RE - Regionale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Roboto"/>
                        </a:rPr>
                        <a:t>~32</a:t>
                      </a:r>
                    </a:p>
                  </a:txBody>
                  <a:tcPr/>
                </a:tc>
              </a:tr>
              <a:tr h="27500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Roboto"/>
                        </a:rPr>
                        <a:t>NA - Nazionale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Roboto"/>
                        </a:rPr>
                        <a:t>~13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92" name="TextBox 91"/>
          <p:cNvSpPr txBox="1"/>
          <p:nvPr/>
        </p:nvSpPr>
        <p:spPr>
          <a:xfrm>
            <a:off x="8000000" y="1050000"/>
            <a:ext cx="35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C00000"/>
                </a:solidFill>
                <a:latin typeface="Aharoni"/>
              </a:rPr>
              <a:t>Fasce di Età</a:t>
            </a:r>
          </a:p>
        </p:txBody>
      </p:sp>
      <p:graphicFrame>
        <p:nvGraphicFramePr>
          <p:cNvPr id="93" name="Table 92"/>
          <p:cNvGraphicFramePr>
            <a:graphicFrameLocks noGrp="1"/>
          </p:cNvGraphicFramePr>
          <p:nvPr/>
        </p:nvGraphicFramePr>
        <p:xfrm>
          <a:off x="8000000" y="1500000"/>
          <a:ext cx="3500000" cy="16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0000"/>
                <a:gridCol w="1750000"/>
              </a:tblGrid>
              <a:tr h="266666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Roboto"/>
                        </a:rPr>
                        <a:t>Fascia</a:t>
                      </a:r>
                    </a:p>
                  </a:txBody>
                  <a:tcPr>
                    <a:solidFill>
                      <a:srgbClr val="35685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Roboto"/>
                        </a:rPr>
                        <a:t>Nr. Arbitri</a:t>
                      </a:r>
                    </a:p>
                  </a:txBody>
                  <a:tcPr>
                    <a:solidFill>
                      <a:srgbClr val="356854"/>
                    </a:solidFill>
                  </a:tcPr>
                </a:tc>
              </a:tr>
              <a:tr h="266666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Roboto"/>
                        </a:rPr>
                        <a:t>&lt;20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Roboto"/>
                        </a:rPr>
                        <a:t>5</a:t>
                      </a:r>
                    </a:p>
                  </a:txBody>
                  <a:tcPr/>
                </a:tc>
              </a:tr>
              <a:tr h="266666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Roboto"/>
                        </a:rPr>
                        <a:t>20-30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Roboto"/>
                        </a:rPr>
                        <a:t>15</a:t>
                      </a:r>
                    </a:p>
                  </a:txBody>
                  <a:tcPr/>
                </a:tc>
              </a:tr>
              <a:tr h="266666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Roboto"/>
                        </a:rPr>
                        <a:t>30-40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Roboto"/>
                        </a:rPr>
                        <a:t>11</a:t>
                      </a:r>
                    </a:p>
                  </a:txBody>
                  <a:tcPr/>
                </a:tc>
              </a:tr>
              <a:tr h="266666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Roboto"/>
                        </a:rPr>
                        <a:t>40-50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Roboto"/>
                        </a:rPr>
                        <a:t>15</a:t>
                      </a:r>
                    </a:p>
                  </a:txBody>
                  <a:tcPr/>
                </a:tc>
              </a:tr>
              <a:tr h="26667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Roboto"/>
                        </a:rPr>
                        <a:t>&gt;50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Roboto"/>
                        </a:rPr>
                        <a:t>19</a:t>
                      </a: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603829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>
          <a:extLst>
            <a:ext uri="{FF2B5EF4-FFF2-40B4-BE49-F238E27FC236}">
              <a16:creationId xmlns:a16="http://schemas.microsoft.com/office/drawing/2014/main" id="{723CC14F-3C50-9AB3-2CE1-C0D83CA534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>
            <a:extLst>
              <a:ext uri="{FF2B5EF4-FFF2-40B4-BE49-F238E27FC236}">
                <a16:creationId xmlns:a16="http://schemas.microsoft.com/office/drawing/2014/main" id="{14FD2AB8-7CC8-924B-D73D-5ADB87851633}"/>
              </a:ext>
            </a:extLst>
          </p:cNvPr>
          <p:cNvSpPr/>
          <p:nvPr/>
        </p:nvSpPr>
        <p:spPr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1">
            <a:extLst>
              <a:ext uri="{FF2B5EF4-FFF2-40B4-BE49-F238E27FC236}">
                <a16:creationId xmlns:a16="http://schemas.microsoft.com/office/drawing/2014/main" id="{D0763F71-FA1C-C7E9-B13B-8C9735C409ED}"/>
              </a:ext>
            </a:extLst>
          </p:cNvPr>
          <p:cNvSpPr/>
          <p:nvPr/>
        </p:nvSpPr>
        <p:spPr>
          <a:xfrm rot="-5400000">
            <a:off x="-2250757" y="2250757"/>
            <a:ext cx="6858000" cy="2356485"/>
          </a:xfrm>
          <a:custGeom>
            <a:avLst/>
            <a:gdLst/>
            <a:ahLst/>
            <a:cxnLst/>
            <a:rect l="l" t="t" r="r" b="b"/>
            <a:pathLst>
              <a:path w="872" h="453" extrusionOk="0">
                <a:moveTo>
                  <a:pt x="0" y="0"/>
                </a:moveTo>
                <a:cubicBezTo>
                  <a:pt x="0" y="453"/>
                  <a:pt x="0" y="453"/>
                  <a:pt x="0" y="453"/>
                </a:cubicBezTo>
                <a:cubicBezTo>
                  <a:pt x="23" y="401"/>
                  <a:pt x="52" y="353"/>
                  <a:pt x="87" y="310"/>
                </a:cubicBezTo>
                <a:cubicBezTo>
                  <a:pt x="94" y="301"/>
                  <a:pt x="101" y="293"/>
                  <a:pt x="108" y="284"/>
                </a:cubicBezTo>
                <a:cubicBezTo>
                  <a:pt x="116" y="275"/>
                  <a:pt x="125" y="266"/>
                  <a:pt x="133" y="258"/>
                </a:cubicBezTo>
                <a:cubicBezTo>
                  <a:pt x="248" y="143"/>
                  <a:pt x="406" y="72"/>
                  <a:pt x="581" y="72"/>
                </a:cubicBezTo>
                <a:cubicBezTo>
                  <a:pt x="872" y="72"/>
                  <a:pt x="872" y="72"/>
                  <a:pt x="872" y="72"/>
                </a:cubicBezTo>
                <a:cubicBezTo>
                  <a:pt x="872" y="0"/>
                  <a:pt x="872" y="0"/>
                  <a:pt x="872" y="0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002060"/>
              </a:gs>
              <a:gs pos="14000">
                <a:srgbClr val="0070C0"/>
              </a:gs>
              <a:gs pos="100000">
                <a:srgbClr val="FCFEF3"/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150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rPr lang="it-IT" sz="1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1">
            <a:extLst>
              <a:ext uri="{FF2B5EF4-FFF2-40B4-BE49-F238E27FC236}">
                <a16:creationId xmlns:a16="http://schemas.microsoft.com/office/drawing/2014/main" id="{1547996D-AB4E-00B6-4415-A3FC4F28879E}"/>
              </a:ext>
            </a:extLst>
          </p:cNvPr>
          <p:cNvSpPr txBox="1"/>
          <p:nvPr/>
        </p:nvSpPr>
        <p:spPr>
          <a:xfrm>
            <a:off x="2518913" y="103516"/>
            <a:ext cx="7375500" cy="95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it-IT" sz="2800" b="1" i="0" u="none" strike="noStrike" cap="none" dirty="0">
                <a:solidFill>
                  <a:srgbClr val="C00000"/>
                </a:solidFill>
                <a:latin typeface="Aharoni"/>
                <a:ea typeface="Aharoni"/>
                <a:cs typeface="Aharoni"/>
                <a:sym typeface="Aharoni"/>
              </a:rPr>
              <a:t>Attività Beach Volley</a:t>
            </a:r>
            <a:endParaRPr sz="2800" b="1" i="0" u="none" strike="noStrike" cap="none" dirty="0">
              <a:solidFill>
                <a:srgbClr val="C00000"/>
              </a:solidFill>
              <a:latin typeface="Aharoni"/>
              <a:ea typeface="Aharoni"/>
              <a:cs typeface="Aharoni"/>
              <a:sym typeface="Aharon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sz="2800" b="1" i="0" u="none" strike="noStrike" cap="none" dirty="0">
              <a:solidFill>
                <a:srgbClr val="C00000"/>
              </a:solidFill>
              <a:latin typeface="Aharoni"/>
              <a:ea typeface="Aharoni"/>
              <a:cs typeface="Aharoni"/>
              <a:sym typeface="Aharoni"/>
            </a:endParaRPr>
          </a:p>
        </p:txBody>
      </p:sp>
      <p:pic>
        <p:nvPicPr>
          <p:cNvPr id="2" name="image7.png" descr="Immagine che contiene Elementi grafici, clipart, disegno, grafica&#10;&#10;Il contenuto generato dall'IA potrebbe non essere corretto.">
            <a:extLst>
              <a:ext uri="{FF2B5EF4-FFF2-40B4-BE49-F238E27FC236}">
                <a16:creationId xmlns:a16="http://schemas.microsoft.com/office/drawing/2014/main" id="{5B556A49-5D17-42DB-158B-7FDE55E61198}"/>
              </a:ext>
            </a:extLst>
          </p:cNvPr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125307" y="5773102"/>
            <a:ext cx="1290320" cy="1001395"/>
          </a:xfrm>
          <a:prstGeom prst="rect">
            <a:avLst/>
          </a:prstGeom>
          <a:ln/>
        </p:spPr>
      </p:pic>
      <p:sp>
        <p:nvSpPr>
          <p:cNvPr id="87" name="TextBox 86"/>
          <p:cNvSpPr txBox="1"/>
          <p:nvPr/>
        </p:nvSpPr>
        <p:spPr>
          <a:xfrm>
            <a:off x="410714" y="1085649"/>
            <a:ext cx="3043687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C00000"/>
                </a:solidFill>
                <a:latin typeface="Aharoni"/>
              </a:rPr>
              <a:t>Tornei per Stagione</a:t>
            </a:r>
          </a:p>
        </p:txBody>
      </p:sp>
      <p:graphicFrame>
        <p:nvGraphicFramePr>
          <p:cNvPr id="88" name="Table 87"/>
          <p:cNvGraphicFramePr>
            <a:graphicFrameLocks noGrp="1"/>
          </p:cNvGraphicFramePr>
          <p:nvPr/>
        </p:nvGraphicFramePr>
        <p:xfrm>
          <a:off x="410714" y="1500000"/>
          <a:ext cx="3500000" cy="24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0000"/>
                <a:gridCol w="1750000"/>
              </a:tblGrid>
              <a:tr h="266666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Roboto"/>
                        </a:rPr>
                        <a:t>Stagione</a:t>
                      </a:r>
                    </a:p>
                  </a:txBody>
                  <a:tcPr>
                    <a:solidFill>
                      <a:srgbClr val="35685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Roboto"/>
                        </a:rPr>
                        <a:t>Nr. Tornei</a:t>
                      </a:r>
                    </a:p>
                  </a:txBody>
                  <a:tcPr>
                    <a:solidFill>
                      <a:srgbClr val="356854"/>
                    </a:solidFill>
                  </a:tcPr>
                </a:tc>
              </a:tr>
              <a:tr h="266666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Roboto"/>
                        </a:rPr>
                        <a:t>2018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Roboto"/>
                        </a:rPr>
                        <a:t>1</a:t>
                      </a:r>
                    </a:p>
                  </a:txBody>
                  <a:tcPr/>
                </a:tc>
              </a:tr>
              <a:tr h="266666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Roboto"/>
                        </a:rPr>
                        <a:t>2019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Roboto"/>
                        </a:rPr>
                        <a:t>36</a:t>
                      </a:r>
                    </a:p>
                  </a:txBody>
                  <a:tcPr/>
                </a:tc>
              </a:tr>
              <a:tr h="266666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Roboto"/>
                        </a:rPr>
                        <a:t>2020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Roboto"/>
                        </a:rPr>
                        <a:t>3</a:t>
                      </a:r>
                    </a:p>
                  </a:txBody>
                  <a:tcPr/>
                </a:tc>
              </a:tr>
              <a:tr h="266666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Roboto"/>
                        </a:rPr>
                        <a:t>2021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Roboto"/>
                        </a:rPr>
                        <a:t>8</a:t>
                      </a:r>
                    </a:p>
                  </a:txBody>
                  <a:tcPr/>
                </a:tc>
              </a:tr>
              <a:tr h="266666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Roboto"/>
                        </a:rPr>
                        <a:t>2022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Roboto"/>
                        </a:rPr>
                        <a:t>8</a:t>
                      </a:r>
                    </a:p>
                  </a:txBody>
                  <a:tcPr/>
                </a:tc>
              </a:tr>
              <a:tr h="266666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Roboto"/>
                        </a:rPr>
                        <a:t>2023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Roboto"/>
                        </a:rPr>
                        <a:t>14</a:t>
                      </a:r>
                    </a:p>
                  </a:txBody>
                  <a:tcPr/>
                </a:tc>
              </a:tr>
              <a:tr h="266666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Roboto"/>
                        </a:rPr>
                        <a:t>2024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Roboto"/>
                        </a:rPr>
                        <a:t>16</a:t>
                      </a:r>
                    </a:p>
                  </a:txBody>
                  <a:tcPr/>
                </a:tc>
              </a:tr>
              <a:tr h="266672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Roboto"/>
                        </a:rPr>
                        <a:t>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Roboto"/>
                        </a:rPr>
                        <a:t>6*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9" name="TextBox 88"/>
          <p:cNvSpPr txBox="1"/>
          <p:nvPr/>
        </p:nvSpPr>
        <p:spPr>
          <a:xfrm>
            <a:off x="410714" y="3950000"/>
            <a:ext cx="35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Calibri"/>
              </a:rPr>
              <a:t>* stagione in corso | Record: 36 tornei nel 2019 (pre-COVID)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4300000" y="1085649"/>
            <a:ext cx="4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C00000"/>
                </a:solidFill>
                <a:latin typeface="Aharoni"/>
              </a:rPr>
              <a:t>Top Arbitri per Designazioni</a:t>
            </a:r>
          </a:p>
        </p:txBody>
      </p:sp>
      <p:graphicFrame>
        <p:nvGraphicFramePr>
          <p:cNvPr id="91" name="Table 90"/>
          <p:cNvGraphicFramePr>
            <a:graphicFrameLocks noGrp="1"/>
          </p:cNvGraphicFramePr>
          <p:nvPr/>
        </p:nvGraphicFramePr>
        <p:xfrm>
          <a:off x="4300000" y="1500000"/>
          <a:ext cx="7200000" cy="18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0000"/>
                <a:gridCol w="1800000"/>
                <a:gridCol w="1800000"/>
                <a:gridCol w="1800000"/>
              </a:tblGrid>
              <a:tr h="257142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Roboto"/>
                        </a:rPr>
                        <a:t>Arbitro</a:t>
                      </a:r>
                    </a:p>
                  </a:txBody>
                  <a:tcPr>
                    <a:solidFill>
                      <a:srgbClr val="35685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Roboto"/>
                        </a:rPr>
                        <a:t>Età</a:t>
                      </a:r>
                    </a:p>
                  </a:txBody>
                  <a:tcPr>
                    <a:solidFill>
                      <a:srgbClr val="35685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Roboto"/>
                        </a:rPr>
                        <a:t>Comitato</a:t>
                      </a:r>
                    </a:p>
                  </a:txBody>
                  <a:tcPr>
                    <a:solidFill>
                      <a:srgbClr val="35685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Roboto"/>
                        </a:rPr>
                        <a:t>Tornei</a:t>
                      </a:r>
                    </a:p>
                  </a:txBody>
                  <a:tcPr>
                    <a:solidFill>
                      <a:srgbClr val="356854"/>
                    </a:solidFill>
                  </a:tcPr>
                </a:tc>
              </a:tr>
              <a:tr h="25714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Roboto"/>
                        </a:rPr>
                        <a:t>Marchetti Marco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Roboto"/>
                        </a:rPr>
                        <a:t>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Roboto"/>
                        </a:rPr>
                        <a:t>Romagna Uno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Roboto"/>
                        </a:rPr>
                        <a:t>37</a:t>
                      </a:r>
                    </a:p>
                  </a:txBody>
                  <a:tcPr/>
                </a:tc>
              </a:tr>
              <a:tr h="25714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Roboto"/>
                        </a:rPr>
                        <a:t>Rosati Andrea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Roboto"/>
                        </a:rPr>
                        <a:t>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Roboto"/>
                        </a:rPr>
                        <a:t>Romagna Uno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Roboto"/>
                        </a:rPr>
                        <a:t>32</a:t>
                      </a:r>
                    </a:p>
                  </a:txBody>
                  <a:tcPr/>
                </a:tc>
              </a:tr>
              <a:tr h="25714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Roboto"/>
                        </a:rPr>
                        <a:t>Tramontano Ciro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Roboto"/>
                        </a:rPr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Roboto"/>
                        </a:rPr>
                        <a:t>Romagna Uno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Roboto"/>
                        </a:rPr>
                        <a:t>29</a:t>
                      </a:r>
                    </a:p>
                  </a:txBody>
                  <a:tcPr/>
                </a:tc>
              </a:tr>
              <a:tr h="25714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Roboto"/>
                        </a:rPr>
                        <a:t>Brunelli Andrea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Roboto"/>
                        </a:rPr>
                        <a:t>61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Roboto"/>
                        </a:rPr>
                        <a:t>Ravenna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Roboto"/>
                        </a:rPr>
                        <a:t>26</a:t>
                      </a:r>
                    </a:p>
                  </a:txBody>
                  <a:tcPr/>
                </a:tc>
              </a:tr>
              <a:tr h="25714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Roboto"/>
                        </a:rPr>
                        <a:t>Drei Marco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Roboto"/>
                        </a:rPr>
                        <a:t>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Roboto"/>
                        </a:rPr>
                        <a:t>Bologna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Roboto"/>
                        </a:rPr>
                        <a:t>26</a:t>
                      </a:r>
                    </a:p>
                  </a:txBody>
                  <a:tcPr/>
                </a:tc>
              </a:tr>
              <a:tr h="257148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Roboto"/>
                        </a:rPr>
                        <a:t>Greco Luigi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Roboto"/>
                        </a:rPr>
                        <a:t>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Roboto"/>
                        </a:rPr>
                        <a:t>Romagna Uno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Roboto"/>
                        </a:rPr>
                        <a:t>25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92" name="TextBox 91"/>
          <p:cNvSpPr txBox="1"/>
          <p:nvPr/>
        </p:nvSpPr>
        <p:spPr>
          <a:xfrm>
            <a:off x="4300000" y="3500000"/>
            <a:ext cx="5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C00000"/>
                </a:solidFill>
                <a:latin typeface="Aharoni"/>
              </a:rPr>
              <a:t>Candidati Promozione (≥10 tornei &amp; &lt;30 anni)</a:t>
            </a:r>
          </a:p>
        </p:txBody>
      </p:sp>
      <p:graphicFrame>
        <p:nvGraphicFramePr>
          <p:cNvPr id="93" name="Table 92"/>
          <p:cNvGraphicFramePr>
            <a:graphicFrameLocks noGrp="1"/>
          </p:cNvGraphicFramePr>
          <p:nvPr/>
        </p:nvGraphicFramePr>
        <p:xfrm>
          <a:off x="4300000" y="3950000"/>
          <a:ext cx="5500000" cy="8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33333"/>
                <a:gridCol w="1833333"/>
                <a:gridCol w="1833334"/>
              </a:tblGrid>
              <a:tr h="266666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Roboto"/>
                        </a:rPr>
                        <a:t>Arbitro</a:t>
                      </a:r>
                    </a:p>
                  </a:txBody>
                  <a:tcPr>
                    <a:solidFill>
                      <a:srgbClr val="35685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Roboto"/>
                        </a:rPr>
                        <a:t>Età</a:t>
                      </a:r>
                    </a:p>
                  </a:txBody>
                  <a:tcPr>
                    <a:solidFill>
                      <a:srgbClr val="35685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Roboto"/>
                        </a:rPr>
                        <a:t>Tornei</a:t>
                      </a:r>
                    </a:p>
                  </a:txBody>
                  <a:tcPr>
                    <a:solidFill>
                      <a:srgbClr val="356854"/>
                    </a:solidFill>
                  </a:tcPr>
                </a:tc>
              </a:tr>
              <a:tr h="266666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Roboto"/>
                        </a:rPr>
                        <a:t>Avanzolini Alberto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Roboto"/>
                        </a:rPr>
                        <a:t>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Roboto"/>
                        </a:rPr>
                        <a:t>15</a:t>
                      </a:r>
                    </a:p>
                  </a:txBody>
                  <a:tcPr/>
                </a:tc>
              </a:tr>
              <a:tr h="266668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Roboto"/>
                        </a:rPr>
                        <a:t>Carota Giacomo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Roboto"/>
                        </a:rPr>
                        <a:t>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Roboto"/>
                        </a:rPr>
                        <a:t>10</a:t>
                      </a: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634975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>
          <a:extLst>
            <a:ext uri="{FF2B5EF4-FFF2-40B4-BE49-F238E27FC236}">
              <a16:creationId xmlns:a16="http://schemas.microsoft.com/office/drawing/2014/main" id="{2D4F3170-18D5-4243-DD47-01E54BC089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>
            <a:extLst>
              <a:ext uri="{FF2B5EF4-FFF2-40B4-BE49-F238E27FC236}">
                <a16:creationId xmlns:a16="http://schemas.microsoft.com/office/drawing/2014/main" id="{18E83DE4-AFE9-8893-9A70-9DBEC7037907}"/>
              </a:ext>
            </a:extLst>
          </p:cNvPr>
          <p:cNvSpPr/>
          <p:nvPr/>
        </p:nvSpPr>
        <p:spPr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1">
            <a:extLst>
              <a:ext uri="{FF2B5EF4-FFF2-40B4-BE49-F238E27FC236}">
                <a16:creationId xmlns:a16="http://schemas.microsoft.com/office/drawing/2014/main" id="{5B060F00-8E26-E33F-1A1A-9CFD6A47B782}"/>
              </a:ext>
            </a:extLst>
          </p:cNvPr>
          <p:cNvSpPr/>
          <p:nvPr/>
        </p:nvSpPr>
        <p:spPr>
          <a:xfrm rot="-5400000">
            <a:off x="-2250757" y="2250757"/>
            <a:ext cx="6858000" cy="2356485"/>
          </a:xfrm>
          <a:custGeom>
            <a:avLst/>
            <a:gdLst/>
            <a:ahLst/>
            <a:cxnLst/>
            <a:rect l="l" t="t" r="r" b="b"/>
            <a:pathLst>
              <a:path w="872" h="453" extrusionOk="0">
                <a:moveTo>
                  <a:pt x="0" y="0"/>
                </a:moveTo>
                <a:cubicBezTo>
                  <a:pt x="0" y="453"/>
                  <a:pt x="0" y="453"/>
                  <a:pt x="0" y="453"/>
                </a:cubicBezTo>
                <a:cubicBezTo>
                  <a:pt x="23" y="401"/>
                  <a:pt x="52" y="353"/>
                  <a:pt x="87" y="310"/>
                </a:cubicBezTo>
                <a:cubicBezTo>
                  <a:pt x="94" y="301"/>
                  <a:pt x="101" y="293"/>
                  <a:pt x="108" y="284"/>
                </a:cubicBezTo>
                <a:cubicBezTo>
                  <a:pt x="116" y="275"/>
                  <a:pt x="125" y="266"/>
                  <a:pt x="133" y="258"/>
                </a:cubicBezTo>
                <a:cubicBezTo>
                  <a:pt x="248" y="143"/>
                  <a:pt x="406" y="72"/>
                  <a:pt x="581" y="72"/>
                </a:cubicBezTo>
                <a:cubicBezTo>
                  <a:pt x="872" y="72"/>
                  <a:pt x="872" y="72"/>
                  <a:pt x="872" y="72"/>
                </a:cubicBezTo>
                <a:cubicBezTo>
                  <a:pt x="872" y="0"/>
                  <a:pt x="872" y="0"/>
                  <a:pt x="872" y="0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002060"/>
              </a:gs>
              <a:gs pos="14000">
                <a:srgbClr val="0070C0"/>
              </a:gs>
              <a:gs pos="100000">
                <a:srgbClr val="FCFEF3"/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150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rPr lang="it-IT" sz="1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1">
            <a:extLst>
              <a:ext uri="{FF2B5EF4-FFF2-40B4-BE49-F238E27FC236}">
                <a16:creationId xmlns:a16="http://schemas.microsoft.com/office/drawing/2014/main" id="{D7E55BCC-83F2-2000-A232-42AC28F1B5E0}"/>
              </a:ext>
            </a:extLst>
          </p:cNvPr>
          <p:cNvSpPr txBox="1"/>
          <p:nvPr/>
        </p:nvSpPr>
        <p:spPr>
          <a:xfrm>
            <a:off x="2518913" y="103516"/>
            <a:ext cx="7375500" cy="95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it-IT" sz="2800" b="1" i="0" u="none" strike="noStrike" cap="none" dirty="0">
                <a:solidFill>
                  <a:srgbClr val="C00000"/>
                </a:solidFill>
                <a:latin typeface="Aharoni"/>
                <a:ea typeface="Aharoni"/>
                <a:cs typeface="Aharoni"/>
                <a:sym typeface="Aharoni"/>
              </a:rPr>
              <a:t>Criticità e Opportunità</a:t>
            </a:r>
            <a:endParaRPr sz="2800" b="1" i="0" u="none" strike="noStrike" cap="none" dirty="0">
              <a:solidFill>
                <a:srgbClr val="C00000"/>
              </a:solidFill>
              <a:latin typeface="Aharoni"/>
              <a:ea typeface="Aharoni"/>
              <a:cs typeface="Aharoni"/>
              <a:sym typeface="Aharon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sz="2800" b="1" i="0" u="none" strike="noStrike" cap="none" dirty="0">
              <a:solidFill>
                <a:srgbClr val="C00000"/>
              </a:solidFill>
              <a:latin typeface="Aharoni"/>
              <a:ea typeface="Aharoni"/>
              <a:cs typeface="Aharoni"/>
              <a:sym typeface="Aharoni"/>
            </a:endParaRPr>
          </a:p>
        </p:txBody>
      </p:sp>
      <p:pic>
        <p:nvPicPr>
          <p:cNvPr id="2" name="image7.png" descr="Immagine che contiene Elementi grafici, clipart, disegno, grafica&#10;&#10;Il contenuto generato dall'IA potrebbe non essere corretto.">
            <a:extLst>
              <a:ext uri="{FF2B5EF4-FFF2-40B4-BE49-F238E27FC236}">
                <a16:creationId xmlns:a16="http://schemas.microsoft.com/office/drawing/2014/main" id="{2087AA31-C39A-68CB-F9D0-4E6D4EADD6F8}"/>
              </a:ext>
            </a:extLst>
          </p:cNvPr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125307" y="5773102"/>
            <a:ext cx="1290320" cy="1001395"/>
          </a:xfrm>
          <a:prstGeom prst="rect">
            <a:avLst/>
          </a:prstGeom>
          <a:ln/>
        </p:spPr>
      </p:pic>
      <p:sp>
        <p:nvSpPr>
          <p:cNvPr id="87" name="TextBox 86"/>
          <p:cNvSpPr txBox="1"/>
          <p:nvPr/>
        </p:nvSpPr>
        <p:spPr>
          <a:xfrm>
            <a:off x="410714" y="1085649"/>
            <a:ext cx="5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C00000"/>
                </a:solidFill>
                <a:latin typeface="Aharoni"/>
              </a:rPr>
              <a:t>Criticità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410714" y="1500000"/>
            <a:ext cx="5500000" cy="1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• 22 arbitri su 65 (34%) mai designati per il beach volley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• 5 arbitri in attesa di rinnovo tesseramento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• Concentrazione su Romagna Uno: 18 arbitri (28% dell'organico)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• Solo 25 arbitri attivi su 65 in organico (38%)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410714" y="3400000"/>
            <a:ext cx="5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C00000"/>
                </a:solidFill>
                <a:latin typeface="Aharoni"/>
              </a:rPr>
              <a:t>Opportunità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410714" y="3850000"/>
            <a:ext cx="10500000" cy="1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• Coinvolgere comitati con pochi arbitri beach: Ferrara (2), Piacenza (3), Reggio Emilia (3)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• Attivare i 22 arbitri mai designati tramite formazione e affiancamento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• Trend positivo post-COVID: da 3 tornei (2020) a 16 (2024)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• Giovani promettenti: Avanzolini (27 anni, 15 tornei), Carota (19 anni, 10 tornei)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7000000" y="1085649"/>
            <a:ext cx="45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C00000"/>
                </a:solidFill>
                <a:latin typeface="Aharoni"/>
              </a:rPr>
              <a:t>Comitati da Potenziare</a:t>
            </a:r>
          </a:p>
        </p:txBody>
      </p:sp>
      <p:graphicFrame>
        <p:nvGraphicFramePr>
          <p:cNvPr id="92" name="Table 91"/>
          <p:cNvGraphicFramePr>
            <a:graphicFrameLocks noGrp="1"/>
          </p:cNvGraphicFramePr>
          <p:nvPr/>
        </p:nvGraphicFramePr>
        <p:xfrm>
          <a:off x="7000000" y="1500000"/>
          <a:ext cx="4200000" cy="15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0000"/>
                <a:gridCol w="2100000"/>
              </a:tblGrid>
              <a:tr h="30000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Roboto"/>
                        </a:rPr>
                        <a:t>Comitato</a:t>
                      </a:r>
                    </a:p>
                  </a:txBody>
                  <a:tcPr>
                    <a:solidFill>
                      <a:srgbClr val="35685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Roboto"/>
                        </a:rPr>
                        <a:t>Arbitri Beach</a:t>
                      </a:r>
                    </a:p>
                  </a:txBody>
                  <a:tcPr>
                    <a:solidFill>
                      <a:srgbClr val="356854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Roboto"/>
                        </a:rPr>
                        <a:t>Ferrara</a:t>
                      </a:r>
                    </a:p>
                  </a:txBody>
                  <a:tcPr>
                    <a:solidFill>
                      <a:srgbClr val="FF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Roboto"/>
                        </a:rPr>
                        <a:t>2</a:t>
                      </a:r>
                    </a:p>
                  </a:txBody>
                  <a:tcPr>
                    <a:solidFill>
                      <a:srgbClr val="FFD9D9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Roboto"/>
                        </a:rPr>
                        <a:t>Piacenza</a:t>
                      </a:r>
                    </a:p>
                  </a:txBody>
                  <a:tcPr>
                    <a:solidFill>
                      <a:srgbClr val="FF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Roboto"/>
                        </a:rPr>
                        <a:t>3</a:t>
                      </a:r>
                    </a:p>
                  </a:txBody>
                  <a:tcPr>
                    <a:solidFill>
                      <a:srgbClr val="FFD9D9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Roboto"/>
                        </a:rPr>
                        <a:t>Reggio Emilia</a:t>
                      </a:r>
                    </a:p>
                  </a:txBody>
                  <a:tcPr>
                    <a:solidFill>
                      <a:srgbClr val="FF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Roboto"/>
                        </a:rPr>
                        <a:t>3</a:t>
                      </a:r>
                    </a:p>
                  </a:txBody>
                  <a:tcPr>
                    <a:solidFill>
                      <a:srgbClr val="FFD9D9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Roboto"/>
                        </a:rPr>
                        <a:t>Parma</a:t>
                      </a:r>
                    </a:p>
                  </a:txBody>
                  <a:tcP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Roboto"/>
                        </a:rPr>
                        <a:t>5</a:t>
                      </a:r>
                    </a:p>
                  </a:txBody>
                  <a:tcPr>
                    <a:solidFill>
                      <a:srgbClr val="FFFFCC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42158320"/>
      </p:ext>
    </p:extLst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84" name="Google Shape;84;p1"/>
          <p:cNvSpPr/>
          <p:nvPr/>
        </p:nvSpPr>
        <p:spPr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1"/>
          <p:cNvSpPr/>
          <p:nvPr/>
        </p:nvSpPr>
        <p:spPr>
          <a:xfrm rot="-5400000">
            <a:off x="-2250757" y="2250757"/>
            <a:ext cx="6858000" cy="2356485"/>
          </a:xfrm>
          <a:custGeom>
            <a:avLst/>
            <a:gdLst/>
            <a:ahLst/>
            <a:cxnLst/>
            <a:rect l="l" t="t" r="r" b="b"/>
            <a:pathLst>
              <a:path w="872" h="453" extrusionOk="0">
                <a:moveTo>
                  <a:pt x="0" y="0"/>
                </a:moveTo>
                <a:cubicBezTo>
                  <a:pt x="0" y="453"/>
                  <a:pt x="0" y="453"/>
                  <a:pt x="0" y="453"/>
                </a:cubicBezTo>
                <a:cubicBezTo>
                  <a:pt x="23" y="401"/>
                  <a:pt x="52" y="353"/>
                  <a:pt x="87" y="310"/>
                </a:cubicBezTo>
                <a:cubicBezTo>
                  <a:pt x="94" y="301"/>
                  <a:pt x="101" y="293"/>
                  <a:pt x="108" y="284"/>
                </a:cubicBezTo>
                <a:cubicBezTo>
                  <a:pt x="116" y="275"/>
                  <a:pt x="125" y="266"/>
                  <a:pt x="133" y="258"/>
                </a:cubicBezTo>
                <a:cubicBezTo>
                  <a:pt x="248" y="143"/>
                  <a:pt x="406" y="72"/>
                  <a:pt x="581" y="72"/>
                </a:cubicBezTo>
                <a:cubicBezTo>
                  <a:pt x="872" y="72"/>
                  <a:pt x="872" y="72"/>
                  <a:pt x="872" y="72"/>
                </a:cubicBezTo>
                <a:cubicBezTo>
                  <a:pt x="872" y="0"/>
                  <a:pt x="872" y="0"/>
                  <a:pt x="872" y="0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002060"/>
              </a:gs>
              <a:gs pos="14000">
                <a:srgbClr val="0070C0"/>
              </a:gs>
              <a:gs pos="100000">
                <a:srgbClr val="FCFEF3"/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150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rPr lang="it-IT" sz="1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" name="image7.png" descr="Immagine che contiene Elementi grafici, clipart, disegno, grafica&#10;&#10;Il contenuto generato dall'IA potrebbe non essere corretto.">
            <a:extLst>
              <a:ext uri="{FF2B5EF4-FFF2-40B4-BE49-F238E27FC236}">
                <a16:creationId xmlns:a16="http://schemas.microsoft.com/office/drawing/2014/main" id="{FC181C04-593B-7B01-C39B-EEC525EDDB63}"/>
              </a:ext>
            </a:extLst>
          </p:cNvPr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125307" y="5773102"/>
            <a:ext cx="1290320" cy="1001395"/>
          </a:xfrm>
          <a:prstGeom prst="rect">
            <a:avLst/>
          </a:prstGeom>
          <a:ln/>
        </p:spPr>
      </p:pic>
      <p:sp>
        <p:nvSpPr>
          <p:cNvPr id="86" name="Google Shape;86;p1"/>
          <p:cNvSpPr txBox="1"/>
          <p:nvPr/>
        </p:nvSpPr>
        <p:spPr>
          <a:xfrm>
            <a:off x="2518913" y="103516"/>
            <a:ext cx="7375500" cy="954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C00000"/>
                </a:solidFill>
                <a:latin typeface="Aharoni"/>
              </a:rPr>
              <a:t>Corso Arbitri Beach Volley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410714" y="1200000"/>
            <a:ext cx="5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C00000"/>
                </a:solidFill>
                <a:latin typeface="Aharoni"/>
              </a:rPr>
              <a:t>Dettagli del Corso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410714" y="1700000"/>
            <a:ext cx="6000000" cy="2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>
                <a:solidFill>
                  <a:srgbClr val="666666"/>
                </a:solidFill>
                <a:latin typeface="Calibri"/>
              </a:rPr>
              <a:t>• Date: in fase di definizione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666666"/>
                </a:solidFill>
                <a:latin typeface="Calibri"/>
              </a:rPr>
              <a:t>• Sede: in fase di definizione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666666"/>
                </a:solidFill>
                <a:latin typeface="Calibri"/>
              </a:rPr>
              <a:t>• Programma: in fase di definizione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666666"/>
                </a:solidFill>
                <a:latin typeface="Calibri"/>
              </a:rPr>
              <a:t>• Docenti: in fase di definizione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666666"/>
                </a:solidFill>
                <a:latin typeface="Calibri"/>
              </a:rPr>
              <a:t>• Destinatari: in fase di definizione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3000000" y="4500000"/>
            <a:ext cx="60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C00000"/>
                </a:solidFill>
                <a:latin typeface="Calibri"/>
              </a:rPr>
              <a:t>⚠ In fase di definizione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84" name="Google Shape;84;p1"/>
          <p:cNvSpPr/>
          <p:nvPr/>
        </p:nvSpPr>
        <p:spPr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1"/>
          <p:cNvSpPr/>
          <p:nvPr/>
        </p:nvSpPr>
        <p:spPr>
          <a:xfrm rot="-5400000">
            <a:off x="-2250757" y="2250757"/>
            <a:ext cx="6858000" cy="2356485"/>
          </a:xfrm>
          <a:custGeom>
            <a:avLst/>
            <a:gdLst/>
            <a:ahLst/>
            <a:cxnLst/>
            <a:rect l="l" t="t" r="r" b="b"/>
            <a:pathLst>
              <a:path w="872" h="453" extrusionOk="0">
                <a:moveTo>
                  <a:pt x="0" y="0"/>
                </a:moveTo>
                <a:cubicBezTo>
                  <a:pt x="0" y="453"/>
                  <a:pt x="0" y="453"/>
                  <a:pt x="0" y="453"/>
                </a:cubicBezTo>
                <a:cubicBezTo>
                  <a:pt x="23" y="401"/>
                  <a:pt x="52" y="353"/>
                  <a:pt x="87" y="310"/>
                </a:cubicBezTo>
                <a:cubicBezTo>
                  <a:pt x="94" y="301"/>
                  <a:pt x="101" y="293"/>
                  <a:pt x="108" y="284"/>
                </a:cubicBezTo>
                <a:cubicBezTo>
                  <a:pt x="116" y="275"/>
                  <a:pt x="125" y="266"/>
                  <a:pt x="133" y="258"/>
                </a:cubicBezTo>
                <a:cubicBezTo>
                  <a:pt x="248" y="143"/>
                  <a:pt x="406" y="72"/>
                  <a:pt x="581" y="72"/>
                </a:cubicBezTo>
                <a:cubicBezTo>
                  <a:pt x="872" y="72"/>
                  <a:pt x="872" y="72"/>
                  <a:pt x="872" y="72"/>
                </a:cubicBezTo>
                <a:cubicBezTo>
                  <a:pt x="872" y="0"/>
                  <a:pt x="872" y="0"/>
                  <a:pt x="872" y="0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002060"/>
              </a:gs>
              <a:gs pos="14000">
                <a:srgbClr val="0070C0"/>
              </a:gs>
              <a:gs pos="100000">
                <a:srgbClr val="FCFEF3"/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150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rPr lang="it-IT" sz="1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" name="image7.png" descr="Immagine che contiene Elementi grafici, clipart, disegno, grafica&#10;&#10;Il contenuto generato dall'IA potrebbe non essere corretto.">
            <a:extLst>
              <a:ext uri="{FF2B5EF4-FFF2-40B4-BE49-F238E27FC236}">
                <a16:creationId xmlns:a16="http://schemas.microsoft.com/office/drawing/2014/main" id="{FC181C04-593B-7B01-C39B-EEC525EDDB63}"/>
              </a:ext>
            </a:extLst>
          </p:cNvPr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125307" y="5773102"/>
            <a:ext cx="1290320" cy="1001395"/>
          </a:xfrm>
          <a:prstGeom prst="rect">
            <a:avLst/>
          </a:prstGeom>
          <a:ln/>
        </p:spPr>
      </p:pic>
      <p:sp>
        <p:nvSpPr>
          <p:cNvPr id="86" name="Google Shape;86;p1"/>
          <p:cNvSpPr txBox="1"/>
          <p:nvPr/>
        </p:nvSpPr>
        <p:spPr>
          <a:xfrm>
            <a:off x="2518913" y="103516"/>
            <a:ext cx="7375500" cy="954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C00000"/>
                </a:solidFill>
                <a:latin typeface="Aharoni"/>
              </a:rPr>
              <a:t>Titolo presentazione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565</Words>
  <Application>Microsoft Office PowerPoint</Application>
  <PresentationFormat>Widescreen</PresentationFormat>
  <Paragraphs>252</Paragraphs>
  <Slides>7</Slides>
  <Notes>7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5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7</vt:i4>
      </vt:variant>
    </vt:vector>
  </HeadingPairs>
  <TitlesOfParts>
    <vt:vector size="13" baseType="lpstr">
      <vt:lpstr>Arial</vt:lpstr>
      <vt:lpstr>Roboto</vt:lpstr>
      <vt:lpstr>Calibri</vt:lpstr>
      <vt:lpstr>Play</vt:lpstr>
      <vt:lpstr>Aharoni</vt:lpstr>
      <vt:lpstr>Tema di Office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Natasha Tecla Santoro</dc:creator>
  <cp:lastModifiedBy>Natasha Tecla Santoro</cp:lastModifiedBy>
  <cp:revision>1</cp:revision>
  <dcterms:created xsi:type="dcterms:W3CDTF">2025-09-09T08:41:21Z</dcterms:created>
  <dcterms:modified xsi:type="dcterms:W3CDTF">2026-02-12T16:44:21Z</dcterms:modified>
</cp:coreProperties>
</file>
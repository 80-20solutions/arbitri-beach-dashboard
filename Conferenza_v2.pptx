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2" r:id="rId6"/>
    <p:sldId id="263" r:id="rId7"/>
    <p:sldId id="264" r:id="rId8"/>
    <p:sldId id="265" r:id="rId22"/>
    <p:sldId id="266" r:id="rId23"/>
  </p:sldIdLst>
  <p:sldSz cx="12192000" cy="6858000"/>
  <p:notesSz cx="6858000" cy="9144000"/>
  <p:embeddedFontLst>
    <p:embeddedFont>
      <p:font typeface="Aharoni" panose="02010803020104030203" pitchFamily="2" charset="-79"/>
      <p:bold r:id="rId10"/>
    </p:embeddedFont>
    <p:embeddedFont>
      <p:font typeface="Play" panose="020B0604020202020204" charset="0"/>
      <p:regular r:id="rId11"/>
      <p:bold r:id="rId12"/>
    </p:embeddedFont>
    <p:embeddedFont>
      <p:font typeface="Roboto" panose="02000000000000000000" pitchFamily="2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jOnG3QAiK9uOY1UGkg2o75pjUHZ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font" Target="fonts/font1.fntdata"/><Relationship Id="rId11" Type="http://schemas.openxmlformats.org/officeDocument/2006/relationships/font" Target="fonts/font2.fntdata"/><Relationship Id="rId12" Type="http://schemas.openxmlformats.org/officeDocument/2006/relationships/font" Target="fonts/font3.fntdata"/><Relationship Id="rId13" Type="http://schemas.openxmlformats.org/officeDocument/2006/relationships/font" Target="fonts/font4.fntdata"/><Relationship Id="rId14" Type="http://schemas.openxmlformats.org/officeDocument/2006/relationships/font" Target="fonts/font5.fntdata"/><Relationship Id="rId15" Type="http://schemas.openxmlformats.org/officeDocument/2006/relationships/font" Target="fonts/font6.fntdata"/><Relationship Id="rId16" Type="http://schemas.openxmlformats.org/officeDocument/2006/relationships/font" Target="fonts/font7.fntdata"/><Relationship Id="rId17" Type="http://customschemas.google.com/relationships/presentationmetadata" Target="meta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8.xml"/><Relationship Id="rId23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33C00AF2-ADBC-BEC5-4596-86D7083CC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2A45E955-57A4-9B17-6D63-62085A46B4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6275FA68-6075-411A-54D6-880683B8E0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523768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2B941278-449C-D810-0E8D-06B2725FD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53C1DEC3-2074-6AD1-575F-F3DADF59FF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9CE684A5-6C3C-E956-2625-1F6E59FF50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145828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A5595B3E-6484-0C76-EB45-0A7A185D6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65754258-CD51-5F77-58EA-0930880BB0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BE8A088F-E7C9-3AF9-D297-09A4626282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737252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AE64C3D7-70F3-200C-72D3-F026622A7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4DE4EC88-47EC-2563-A326-7301A4AF69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CF94A071-887E-7938-60A6-05AF8EF128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936647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0A0D453D-09C3-672C-53C4-301EA30EF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0CECD2C1-8160-318F-7C7B-AB4107A95E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25D7C31C-AA06-61D8-CDE5-93AC1F468F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923941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50E8D5A0-3C35-8D5B-09F0-11328445D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61AB4C2C-8407-A0B6-8BEE-32764D42B3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B6051FC1-0900-3C0A-E7DC-2975691F23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21067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uota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titolo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e contenuto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stazione sezione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e contenuti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fronto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titolo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to con didascalia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magine con didascalia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e testo verticale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olo e testo verticale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/>
          <p:nvPr/>
        </p:nvSpPr>
        <p:spPr>
          <a:xfrm rot="-5400000">
            <a:off x="-2250757" y="2250757"/>
            <a:ext cx="6858000" cy="2356485"/>
          </a:xfrm>
          <a:custGeom>
            <a:avLst/>
            <a:gdLst/>
            <a:ahLst/>
            <a:cxnLst/>
            <a:rect l="l" t="t" r="r" b="b"/>
            <a:pathLst>
              <a:path w="872" h="453" extrusionOk="0">
                <a:moveTo>
                  <a:pt x="0" y="0"/>
                </a:moveTo>
                <a:cubicBezTo>
                  <a:pt x="0" y="453"/>
                  <a:pt x="0" y="453"/>
                  <a:pt x="0" y="453"/>
                </a:cubicBezTo>
                <a:cubicBezTo>
                  <a:pt x="23" y="401"/>
                  <a:pt x="52" y="353"/>
                  <a:pt x="87" y="310"/>
                </a:cubicBezTo>
                <a:cubicBezTo>
                  <a:pt x="94" y="301"/>
                  <a:pt x="101" y="293"/>
                  <a:pt x="108" y="284"/>
                </a:cubicBezTo>
                <a:cubicBezTo>
                  <a:pt x="116" y="275"/>
                  <a:pt x="125" y="266"/>
                  <a:pt x="133" y="258"/>
                </a:cubicBezTo>
                <a:cubicBezTo>
                  <a:pt x="248" y="143"/>
                  <a:pt x="406" y="72"/>
                  <a:pt x="581" y="72"/>
                </a:cubicBezTo>
                <a:cubicBezTo>
                  <a:pt x="872" y="72"/>
                  <a:pt x="872" y="72"/>
                  <a:pt x="872" y="72"/>
                </a:cubicBezTo>
                <a:cubicBezTo>
                  <a:pt x="872" y="0"/>
                  <a:pt x="872" y="0"/>
                  <a:pt x="872" y="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2060"/>
              </a:gs>
              <a:gs pos="14000">
                <a:srgbClr val="0070C0"/>
              </a:gs>
              <a:gs pos="100000">
                <a:srgbClr val="FCFEF3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50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it-IT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410714" y="1085649"/>
            <a:ext cx="3043687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it-IT" sz="2800" b="1" i="0" u="none" strike="noStrike" cap="none" dirty="0">
                <a:solidFill>
                  <a:srgbClr val="C00000"/>
                </a:solidFill>
                <a:latin typeface="Aharoni"/>
                <a:ea typeface="Aharoni"/>
                <a:cs typeface="Aharoni"/>
                <a:sym typeface="Aharoni"/>
              </a:rPr>
              <a:t>Docenti in ER</a:t>
            </a:r>
            <a:endParaRPr sz="2800" b="1" i="0" u="none" strike="noStrike" cap="none" dirty="0">
              <a:solidFill>
                <a:srgbClr val="C00000"/>
              </a:solidFill>
              <a:latin typeface="Aharoni"/>
              <a:ea typeface="Aharoni"/>
              <a:cs typeface="Aharoni"/>
              <a:sym typeface="Aharon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1" i="0" u="none" strike="noStrike" cap="none" dirty="0">
              <a:solidFill>
                <a:srgbClr val="C00000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pic>
        <p:nvPicPr>
          <p:cNvPr id="2" name="image7.png" descr="Immagine che contiene Elementi grafici, clipart, disegno, grafica&#10;&#10;Il contenuto generato dall'IA potrebbe non essere corretto.">
            <a:extLst>
              <a:ext uri="{FF2B5EF4-FFF2-40B4-BE49-F238E27FC236}">
                <a16:creationId xmlns:a16="http://schemas.microsoft.com/office/drawing/2014/main" id="{FC181C04-593B-7B01-C39B-EEC525EDDB63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25307" y="5773102"/>
            <a:ext cx="1290320" cy="1001395"/>
          </a:xfrm>
          <a:prstGeom prst="rect">
            <a:avLst/>
          </a:prstGeom>
          <a:ln/>
        </p:spPr>
      </p:pic>
      <p:graphicFrame>
        <p:nvGraphicFramePr>
          <p:cNvPr id="3" name="Tabella 2">
            <a:extLst>
              <a:ext uri="{FF2B5EF4-FFF2-40B4-BE49-F238E27FC236}">
                <a16:creationId xmlns:a16="http://schemas.microsoft.com/office/drawing/2014/main" id="{4CA105FD-F82C-E750-EF01-7C1896E8FC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9847393"/>
              </p:ext>
            </p:extLst>
          </p:nvPr>
        </p:nvGraphicFramePr>
        <p:xfrm>
          <a:off x="3259667" y="143933"/>
          <a:ext cx="4319481" cy="2489200"/>
        </p:xfrm>
        <a:graphic>
          <a:graphicData uri="http://schemas.openxmlformats.org/drawingml/2006/table">
            <a:tbl>
              <a:tblPr/>
              <a:tblGrid>
                <a:gridCol w="572039">
                  <a:extLst>
                    <a:ext uri="{9D8B030D-6E8A-4147-A177-3AD203B41FA5}">
                      <a16:colId xmlns:a16="http://schemas.microsoft.com/office/drawing/2014/main" val="3864942382"/>
                    </a:ext>
                  </a:extLst>
                </a:gridCol>
                <a:gridCol w="980639">
                  <a:extLst>
                    <a:ext uri="{9D8B030D-6E8A-4147-A177-3AD203B41FA5}">
                      <a16:colId xmlns:a16="http://schemas.microsoft.com/office/drawing/2014/main" val="4052389779"/>
                    </a:ext>
                  </a:extLst>
                </a:gridCol>
                <a:gridCol w="957291">
                  <a:extLst>
                    <a:ext uri="{9D8B030D-6E8A-4147-A177-3AD203B41FA5}">
                      <a16:colId xmlns:a16="http://schemas.microsoft.com/office/drawing/2014/main" val="1145569323"/>
                    </a:ext>
                  </a:extLst>
                </a:gridCol>
                <a:gridCol w="980639">
                  <a:extLst>
                    <a:ext uri="{9D8B030D-6E8A-4147-A177-3AD203B41FA5}">
                      <a16:colId xmlns:a16="http://schemas.microsoft.com/office/drawing/2014/main" val="1566570486"/>
                    </a:ext>
                  </a:extLst>
                </a:gridCol>
                <a:gridCol w="828873">
                  <a:extLst>
                    <a:ext uri="{9D8B030D-6E8A-4147-A177-3AD203B41FA5}">
                      <a16:colId xmlns:a16="http://schemas.microsoft.com/office/drawing/2014/main" val="238507101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it-IT" b="1" dirty="0">
                          <a:effectLst/>
                        </a:rPr>
                        <a:t>CT</a:t>
                      </a:r>
                    </a:p>
                  </a:txBody>
                  <a:tcPr marL="22860" marR="22860" marT="0" marB="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E29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it-IT" b="1">
                          <a:effectLst/>
                        </a:rPr>
                        <a:t>Nr. Docenti</a:t>
                      </a:r>
                    </a:p>
                  </a:txBody>
                  <a:tcPr marL="22860" marR="228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E29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it-IT" b="1" dirty="0">
                          <a:effectLst/>
                          <a:latin typeface="Arial" panose="020B0604020202020204" pitchFamily="34" charset="0"/>
                        </a:rPr>
                        <a:t>Variazioni</a:t>
                      </a:r>
                    </a:p>
                  </a:txBody>
                  <a:tcPr marL="22860" marR="228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E29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it-IT" b="1">
                          <a:effectLst/>
                          <a:latin typeface="Arial" panose="020B0604020202020204" pitchFamily="34" charset="0"/>
                        </a:rPr>
                        <a:t>Organico a ruolo</a:t>
                      </a:r>
                    </a:p>
                  </a:txBody>
                  <a:tcPr marL="22860" marR="228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E29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it-IT" b="1">
                          <a:effectLst/>
                          <a:latin typeface="Arial" panose="020B0604020202020204" pitchFamily="34" charset="0"/>
                        </a:rPr>
                        <a:t>Organico Attivo</a:t>
                      </a:r>
                    </a:p>
                  </a:txBody>
                  <a:tcPr marL="22860" marR="228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E2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1438775"/>
                  </a:ext>
                </a:extLst>
              </a:tr>
              <a:tr h="21697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>
                          <a:effectLst/>
                        </a:rPr>
                        <a:t>BO</a:t>
                      </a:r>
                    </a:p>
                  </a:txBody>
                  <a:tcPr marL="22860" marR="2286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22860" marR="228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effectLst/>
                          <a:latin typeface="Arial" panose="020B0604020202020204" pitchFamily="34" charset="0"/>
                        </a:rPr>
                        <a:t>-1</a:t>
                      </a:r>
                    </a:p>
                  </a:txBody>
                  <a:tcPr marL="22860" marR="228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>
                          <a:effectLst/>
                        </a:rPr>
                        <a:t>4</a:t>
                      </a:r>
                    </a:p>
                  </a:txBody>
                  <a:tcPr marL="22860" marR="228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22860" marR="228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8224542"/>
                  </a:ext>
                </a:extLst>
              </a:tr>
              <a:tr h="21697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>
                          <a:effectLst/>
                        </a:rPr>
                        <a:t>FE</a:t>
                      </a:r>
                    </a:p>
                  </a:txBody>
                  <a:tcPr marL="22860" marR="2286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>
                          <a:effectLst/>
                        </a:rPr>
                        <a:t>1</a:t>
                      </a:r>
                    </a:p>
                  </a:txBody>
                  <a:tcPr marL="22860" marR="228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it-IT">
                        <a:effectLst/>
                      </a:endParaRPr>
                    </a:p>
                  </a:txBody>
                  <a:tcPr marL="22860" marR="228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>
                          <a:effectLst/>
                        </a:rPr>
                        <a:t>1</a:t>
                      </a:r>
                    </a:p>
                  </a:txBody>
                  <a:tcPr marL="22860" marR="228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22860" marR="228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4023816"/>
                  </a:ext>
                </a:extLst>
              </a:tr>
              <a:tr h="21697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>
                          <a:effectLst/>
                        </a:rPr>
                        <a:t>MO</a:t>
                      </a:r>
                    </a:p>
                  </a:txBody>
                  <a:tcPr marL="22860" marR="2286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>
                          <a:effectLst/>
                        </a:rPr>
                        <a:t>5</a:t>
                      </a:r>
                    </a:p>
                  </a:txBody>
                  <a:tcPr marL="22860" marR="228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it-IT">
                        <a:effectLst/>
                      </a:endParaRPr>
                    </a:p>
                  </a:txBody>
                  <a:tcPr marL="22860" marR="228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>
                          <a:effectLst/>
                        </a:rPr>
                        <a:t>5</a:t>
                      </a:r>
                    </a:p>
                  </a:txBody>
                  <a:tcPr marL="22860" marR="228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22860" marR="228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2520240"/>
                  </a:ext>
                </a:extLst>
              </a:tr>
              <a:tr h="21697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>
                          <a:effectLst/>
                        </a:rPr>
                        <a:t>PC</a:t>
                      </a:r>
                    </a:p>
                  </a:txBody>
                  <a:tcPr marL="22860" marR="2286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>
                          <a:effectLst/>
                        </a:rPr>
                        <a:t>2</a:t>
                      </a:r>
                    </a:p>
                  </a:txBody>
                  <a:tcPr marL="22860" marR="228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it-IT">
                        <a:effectLst/>
                      </a:endParaRPr>
                    </a:p>
                  </a:txBody>
                  <a:tcPr marL="22860" marR="228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>
                          <a:effectLst/>
                        </a:rPr>
                        <a:t>2</a:t>
                      </a:r>
                    </a:p>
                  </a:txBody>
                  <a:tcPr marL="22860" marR="228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22860" marR="228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2040579"/>
                  </a:ext>
                </a:extLst>
              </a:tr>
              <a:tr h="21697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>
                          <a:effectLst/>
                        </a:rPr>
                        <a:t>PR</a:t>
                      </a:r>
                    </a:p>
                  </a:txBody>
                  <a:tcPr marL="22860" marR="2286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>
                          <a:effectLst/>
                        </a:rPr>
                        <a:t>5</a:t>
                      </a:r>
                    </a:p>
                  </a:txBody>
                  <a:tcPr marL="22860" marR="228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it-IT">
                        <a:effectLst/>
                      </a:endParaRPr>
                    </a:p>
                  </a:txBody>
                  <a:tcPr marL="22860" marR="228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>
                          <a:effectLst/>
                        </a:rPr>
                        <a:t>5</a:t>
                      </a:r>
                    </a:p>
                  </a:txBody>
                  <a:tcPr marL="22860" marR="228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22860" marR="228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8695829"/>
                  </a:ext>
                </a:extLst>
              </a:tr>
              <a:tr h="21697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>
                          <a:effectLst/>
                        </a:rPr>
                        <a:t>R1</a:t>
                      </a:r>
                    </a:p>
                  </a:txBody>
                  <a:tcPr marL="22860" marR="2286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22860" marR="228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>
                          <a:effectLst/>
                        </a:rPr>
                        <a:t>1</a:t>
                      </a:r>
                    </a:p>
                  </a:txBody>
                  <a:tcPr marL="22860" marR="228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>
                          <a:effectLst/>
                        </a:rPr>
                        <a:t>7</a:t>
                      </a:r>
                    </a:p>
                  </a:txBody>
                  <a:tcPr marL="22860" marR="228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22860" marR="228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3288757"/>
                  </a:ext>
                </a:extLst>
              </a:tr>
              <a:tr h="21697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>
                          <a:effectLst/>
                        </a:rPr>
                        <a:t>RA</a:t>
                      </a:r>
                    </a:p>
                  </a:txBody>
                  <a:tcPr marL="22860" marR="2286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>
                          <a:effectLst/>
                        </a:rPr>
                        <a:t>1</a:t>
                      </a:r>
                    </a:p>
                  </a:txBody>
                  <a:tcPr marL="22860" marR="228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it-IT">
                        <a:effectLst/>
                      </a:endParaRPr>
                    </a:p>
                  </a:txBody>
                  <a:tcPr marL="22860" marR="228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>
                          <a:effectLst/>
                        </a:rPr>
                        <a:t>1</a:t>
                      </a:r>
                    </a:p>
                  </a:txBody>
                  <a:tcPr marL="22860" marR="228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22860" marR="228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3169157"/>
                  </a:ext>
                </a:extLst>
              </a:tr>
              <a:tr h="21697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>
                          <a:effectLst/>
                        </a:rPr>
                        <a:t>RE</a:t>
                      </a:r>
                    </a:p>
                  </a:txBody>
                  <a:tcPr marL="22860" marR="2286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>
                          <a:effectLst/>
                        </a:rPr>
                        <a:t>1</a:t>
                      </a:r>
                    </a:p>
                  </a:txBody>
                  <a:tcPr marL="22860" marR="228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it-IT">
                        <a:effectLst/>
                      </a:endParaRPr>
                    </a:p>
                  </a:txBody>
                  <a:tcPr marL="22860" marR="228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>
                          <a:effectLst/>
                        </a:rPr>
                        <a:t>1</a:t>
                      </a:r>
                    </a:p>
                  </a:txBody>
                  <a:tcPr marL="22860" marR="228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22860" marR="228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6334668"/>
                  </a:ext>
                </a:extLst>
              </a:tr>
              <a:tr h="29624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b="1">
                          <a:effectLst/>
                          <a:latin typeface="Arial" panose="020B0604020202020204" pitchFamily="34" charset="0"/>
                        </a:rPr>
                        <a:t>Totale</a:t>
                      </a:r>
                    </a:p>
                  </a:txBody>
                  <a:tcPr marL="22860" marR="2286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1">
                          <a:effectLst/>
                        </a:rPr>
                        <a:t>26</a:t>
                      </a:r>
                    </a:p>
                  </a:txBody>
                  <a:tcPr marL="22860" marR="228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it-IT">
                        <a:effectLst/>
                      </a:endParaRPr>
                    </a:p>
                  </a:txBody>
                  <a:tcPr marL="22860" marR="228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1">
                          <a:effectLst/>
                        </a:rPr>
                        <a:t>26</a:t>
                      </a:r>
                    </a:p>
                  </a:txBody>
                  <a:tcPr marL="22860" marR="228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1" dirty="0">
                          <a:effectLst/>
                        </a:rPr>
                        <a:t>23</a:t>
                      </a:r>
                    </a:p>
                  </a:txBody>
                  <a:tcPr marL="22860" marR="228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4980697"/>
                  </a:ext>
                </a:extLst>
              </a:tr>
            </a:tbl>
          </a:graphicData>
        </a:graphic>
      </p:graphicFrame>
      <p:sp>
        <p:nvSpPr>
          <p:cNvPr id="4" name="Google Shape;86;p1">
            <a:extLst>
              <a:ext uri="{FF2B5EF4-FFF2-40B4-BE49-F238E27FC236}">
                <a16:creationId xmlns:a16="http://schemas.microsoft.com/office/drawing/2014/main" id="{D68215E2-E3C2-CE60-59A3-182842B48012}"/>
              </a:ext>
            </a:extLst>
          </p:cNvPr>
          <p:cNvSpPr txBox="1"/>
          <p:nvPr/>
        </p:nvSpPr>
        <p:spPr>
          <a:xfrm>
            <a:off x="495381" y="3262334"/>
            <a:ext cx="3043687" cy="1384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it-IT" sz="2800" b="1" i="0" u="none" strike="noStrike" cap="none" dirty="0">
                <a:solidFill>
                  <a:srgbClr val="C00000"/>
                </a:solidFill>
                <a:latin typeface="Aharoni"/>
                <a:ea typeface="Aharoni"/>
                <a:cs typeface="Aharoni"/>
                <a:sym typeface="Aharoni"/>
              </a:rPr>
              <a:t>Designazioni Gestiste</a:t>
            </a:r>
            <a:endParaRPr sz="2800" b="1" i="0" u="none" strike="noStrike" cap="none" dirty="0">
              <a:solidFill>
                <a:srgbClr val="C00000"/>
              </a:solidFill>
              <a:latin typeface="Aharoni"/>
              <a:ea typeface="Aharoni"/>
              <a:cs typeface="Aharoni"/>
              <a:sym typeface="Aharon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1" i="0" u="none" strike="noStrike" cap="none" dirty="0">
              <a:solidFill>
                <a:srgbClr val="C00000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9EAEB7D1-52D1-FE44-C374-5063DE3632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3376268"/>
              </p:ext>
            </p:extLst>
          </p:nvPr>
        </p:nvGraphicFramePr>
        <p:xfrm>
          <a:off x="3454401" y="2833728"/>
          <a:ext cx="7103532" cy="3413760"/>
        </p:xfrm>
        <a:graphic>
          <a:graphicData uri="http://schemas.openxmlformats.org/drawingml/2006/table">
            <a:tbl>
              <a:tblPr/>
              <a:tblGrid>
                <a:gridCol w="1760220">
                  <a:extLst>
                    <a:ext uri="{9D8B030D-6E8A-4147-A177-3AD203B41FA5}">
                      <a16:colId xmlns:a16="http://schemas.microsoft.com/office/drawing/2014/main" val="3262603429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422850704"/>
                    </a:ext>
                  </a:extLst>
                </a:gridCol>
                <a:gridCol w="472440">
                  <a:extLst>
                    <a:ext uri="{9D8B030D-6E8A-4147-A177-3AD203B41FA5}">
                      <a16:colId xmlns:a16="http://schemas.microsoft.com/office/drawing/2014/main" val="2220807765"/>
                    </a:ext>
                  </a:extLst>
                </a:gridCol>
                <a:gridCol w="510540">
                  <a:extLst>
                    <a:ext uri="{9D8B030D-6E8A-4147-A177-3AD203B41FA5}">
                      <a16:colId xmlns:a16="http://schemas.microsoft.com/office/drawing/2014/main" val="1510071108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626007160"/>
                    </a:ext>
                  </a:extLst>
                </a:gridCol>
                <a:gridCol w="678180">
                  <a:extLst>
                    <a:ext uri="{9D8B030D-6E8A-4147-A177-3AD203B41FA5}">
                      <a16:colId xmlns:a16="http://schemas.microsoft.com/office/drawing/2014/main" val="114555752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611607031"/>
                    </a:ext>
                  </a:extLst>
                </a:gridCol>
                <a:gridCol w="480060">
                  <a:extLst>
                    <a:ext uri="{9D8B030D-6E8A-4147-A177-3AD203B41FA5}">
                      <a16:colId xmlns:a16="http://schemas.microsoft.com/office/drawing/2014/main" val="4033377877"/>
                    </a:ext>
                  </a:extLst>
                </a:gridCol>
                <a:gridCol w="480060">
                  <a:extLst>
                    <a:ext uri="{9D8B030D-6E8A-4147-A177-3AD203B41FA5}">
                      <a16:colId xmlns:a16="http://schemas.microsoft.com/office/drawing/2014/main" val="3076924117"/>
                    </a:ext>
                  </a:extLst>
                </a:gridCol>
                <a:gridCol w="916092">
                  <a:extLst>
                    <a:ext uri="{9D8B030D-6E8A-4147-A177-3AD203B41FA5}">
                      <a16:colId xmlns:a16="http://schemas.microsoft.com/office/drawing/2014/main" val="1847951466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it-IT" b="0">
                          <a:solidFill>
                            <a:srgbClr val="FFFFFF"/>
                          </a:solidFill>
                          <a:effectLst/>
                          <a:latin typeface="Roboto" panose="02000000000000000000" pitchFamily="2" charset="0"/>
                        </a:rPr>
                        <a:t>Corso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it-IT" b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BO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it-IT" b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FE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it-IT" b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MO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it-IT" b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PA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it-IT" b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PC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it-IT" b="0">
                          <a:solidFill>
                            <a:srgbClr val="FFFFFF"/>
                          </a:solidFill>
                          <a:effectLst/>
                          <a:latin typeface="Roboto" panose="02000000000000000000" pitchFamily="2" charset="0"/>
                        </a:rPr>
                        <a:t>R1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it-IT" b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RA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it-IT" b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RE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it-IT" b="0">
                          <a:solidFill>
                            <a:srgbClr val="FFFFFF"/>
                          </a:solidFill>
                          <a:effectLst/>
                          <a:latin typeface="Roboto" panose="02000000000000000000" pitchFamily="2" charset="0"/>
                        </a:rPr>
                        <a:t>TOTALE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254749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Aggiornamento Arbitri Associati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2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3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it-IT">
                        <a:effectLst/>
                      </a:endParaRP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2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1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it-IT">
                        <a:effectLst/>
                      </a:endParaRP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it-IT">
                        <a:effectLst/>
                      </a:endParaRP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it-IT">
                        <a:effectLst/>
                      </a:endParaRP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8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296592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Corso Allenatori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1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it-IT">
                        <a:effectLst/>
                      </a:endParaRP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1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it-IT">
                        <a:effectLst/>
                      </a:endParaRP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it-IT">
                        <a:effectLst/>
                      </a:endParaRP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it-IT">
                        <a:effectLst/>
                      </a:endParaRP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it-IT">
                        <a:effectLst/>
                      </a:endParaRP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1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3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610283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Corso Arbitri Associati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5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5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it-IT">
                        <a:effectLst/>
                      </a:endParaRP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7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4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1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it-IT">
                        <a:effectLst/>
                      </a:endParaRP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it-IT">
                        <a:effectLst/>
                      </a:endParaRP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22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958600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Corso Arbitri Indoor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16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10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13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15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13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19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10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15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111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810053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Corso Arbitri Indoor PROG. PCTO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it-IT">
                        <a:effectLst/>
                      </a:endParaRP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it-IT">
                        <a:effectLst/>
                      </a:endParaRP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it-IT">
                        <a:effectLst/>
                      </a:endParaRP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13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it-IT">
                        <a:effectLst/>
                      </a:endParaRP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it-IT">
                        <a:effectLst/>
                      </a:endParaRP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it-IT">
                        <a:effectLst/>
                      </a:endParaRP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it-IT">
                        <a:effectLst/>
                      </a:endParaRP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13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973253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Corso Segnapunti Associati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11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7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13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8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3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2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4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10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58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712309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Raduno Precampionato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2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1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1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1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1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1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1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1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9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981799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Raduno Recupero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1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it-IT">
                        <a:effectLst/>
                      </a:endParaRP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1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1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1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it-IT">
                        <a:effectLst/>
                      </a:endParaRP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it-IT">
                        <a:effectLst/>
                      </a:endParaRP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it-IT">
                        <a:effectLst/>
                      </a:endParaRP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4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009970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RTP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5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it-IT">
                        <a:effectLst/>
                      </a:endParaRP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2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3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2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it-IT">
                        <a:effectLst/>
                      </a:endParaRP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1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2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15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309899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it-IT" b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Totale generale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43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26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31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50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25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23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16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29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b="1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243</a:t>
                      </a:r>
                    </a:p>
                  </a:txBody>
                  <a:tcPr marL="60960" marR="609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31461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F4B334C6-9262-6B13-C370-ADA157DEC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>
            <a:extLst>
              <a:ext uri="{FF2B5EF4-FFF2-40B4-BE49-F238E27FC236}">
                <a16:creationId xmlns:a16="http://schemas.microsoft.com/office/drawing/2014/main" id="{9600DA05-87A8-6AF8-BA76-9A013F30A0CD}"/>
              </a:ext>
            </a:extLst>
          </p:cNvPr>
          <p:cNvSpPr/>
          <p:nvPr/>
        </p:nvSpPr>
        <p:spPr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>
            <a:extLst>
              <a:ext uri="{FF2B5EF4-FFF2-40B4-BE49-F238E27FC236}">
                <a16:creationId xmlns:a16="http://schemas.microsoft.com/office/drawing/2014/main" id="{018802EF-ECAF-7BB3-52FB-AF761546D887}"/>
              </a:ext>
            </a:extLst>
          </p:cNvPr>
          <p:cNvSpPr/>
          <p:nvPr/>
        </p:nvSpPr>
        <p:spPr>
          <a:xfrm rot="-5400000">
            <a:off x="-2250757" y="2250757"/>
            <a:ext cx="6858000" cy="2356485"/>
          </a:xfrm>
          <a:custGeom>
            <a:avLst/>
            <a:gdLst/>
            <a:ahLst/>
            <a:cxnLst/>
            <a:rect l="l" t="t" r="r" b="b"/>
            <a:pathLst>
              <a:path w="872" h="453" extrusionOk="0">
                <a:moveTo>
                  <a:pt x="0" y="0"/>
                </a:moveTo>
                <a:cubicBezTo>
                  <a:pt x="0" y="453"/>
                  <a:pt x="0" y="453"/>
                  <a:pt x="0" y="453"/>
                </a:cubicBezTo>
                <a:cubicBezTo>
                  <a:pt x="23" y="401"/>
                  <a:pt x="52" y="353"/>
                  <a:pt x="87" y="310"/>
                </a:cubicBezTo>
                <a:cubicBezTo>
                  <a:pt x="94" y="301"/>
                  <a:pt x="101" y="293"/>
                  <a:pt x="108" y="284"/>
                </a:cubicBezTo>
                <a:cubicBezTo>
                  <a:pt x="116" y="275"/>
                  <a:pt x="125" y="266"/>
                  <a:pt x="133" y="258"/>
                </a:cubicBezTo>
                <a:cubicBezTo>
                  <a:pt x="248" y="143"/>
                  <a:pt x="406" y="72"/>
                  <a:pt x="581" y="72"/>
                </a:cubicBezTo>
                <a:cubicBezTo>
                  <a:pt x="872" y="72"/>
                  <a:pt x="872" y="72"/>
                  <a:pt x="872" y="72"/>
                </a:cubicBezTo>
                <a:cubicBezTo>
                  <a:pt x="872" y="0"/>
                  <a:pt x="872" y="0"/>
                  <a:pt x="872" y="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2060"/>
              </a:gs>
              <a:gs pos="14000">
                <a:srgbClr val="0070C0"/>
              </a:gs>
              <a:gs pos="100000">
                <a:srgbClr val="FCFEF3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50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it-IT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>
            <a:extLst>
              <a:ext uri="{FF2B5EF4-FFF2-40B4-BE49-F238E27FC236}">
                <a16:creationId xmlns:a16="http://schemas.microsoft.com/office/drawing/2014/main" id="{32FFABC1-782B-C322-D874-6151EF9D550D}"/>
              </a:ext>
            </a:extLst>
          </p:cNvPr>
          <p:cNvSpPr txBox="1"/>
          <p:nvPr/>
        </p:nvSpPr>
        <p:spPr>
          <a:xfrm>
            <a:off x="2518913" y="103516"/>
            <a:ext cx="73755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it-IT" sz="2800" b="1" i="0" u="none" strike="noStrike" cap="none" dirty="0">
                <a:solidFill>
                  <a:srgbClr val="C00000"/>
                </a:solidFill>
                <a:latin typeface="Aharoni"/>
                <a:ea typeface="Aharoni"/>
                <a:cs typeface="Aharoni"/>
                <a:sym typeface="Aharoni"/>
              </a:rPr>
              <a:t>Confronto tra due anni</a:t>
            </a:r>
            <a:endParaRPr sz="2800" b="1" i="0" u="none" strike="noStrike" cap="none" dirty="0">
              <a:solidFill>
                <a:srgbClr val="C00000"/>
              </a:solidFill>
              <a:latin typeface="Aharoni"/>
              <a:ea typeface="Aharoni"/>
              <a:cs typeface="Aharoni"/>
              <a:sym typeface="Aharon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1" i="0" u="none" strike="noStrike" cap="none" dirty="0">
              <a:solidFill>
                <a:srgbClr val="C00000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pic>
        <p:nvPicPr>
          <p:cNvPr id="2" name="image7.png" descr="Immagine che contiene Elementi grafici, clipart, disegno, grafica&#10;&#10;Il contenuto generato dall'IA potrebbe non essere corretto.">
            <a:extLst>
              <a:ext uri="{FF2B5EF4-FFF2-40B4-BE49-F238E27FC236}">
                <a16:creationId xmlns:a16="http://schemas.microsoft.com/office/drawing/2014/main" id="{1FD156BA-F573-707E-FF12-B7C28C060B4D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25307" y="5773102"/>
            <a:ext cx="1290320" cy="1001395"/>
          </a:xfrm>
          <a:prstGeom prst="rect">
            <a:avLst/>
          </a:prstGeom>
          <a:ln/>
        </p:spPr>
      </p:pic>
      <p:pic>
        <p:nvPicPr>
          <p:cNvPr id="6" name="Immagine 5" descr="Immagine che contiene testo, schermata, numero, linea&#10;&#10;Il contenuto generato dall'IA potrebbe non essere corretto.">
            <a:extLst>
              <a:ext uri="{FF2B5EF4-FFF2-40B4-BE49-F238E27FC236}">
                <a16:creationId xmlns:a16="http://schemas.microsoft.com/office/drawing/2014/main" id="{009BF236-4095-866D-670F-AEA76B3231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073" y="750469"/>
            <a:ext cx="11453853" cy="2309060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8FE11960-81C7-A26D-F798-588F1E93B6B6}"/>
              </a:ext>
            </a:extLst>
          </p:cNvPr>
          <p:cNvSpPr txBox="1"/>
          <p:nvPr/>
        </p:nvSpPr>
        <p:spPr>
          <a:xfrm>
            <a:off x="1178243" y="3059529"/>
            <a:ext cx="10795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* Si precisa che in alcuni caso il calo del nr. di lezione può dipendere dall’attivazione o no di un doppio corso arbitri indoor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129BF009-57DD-1C04-0FD6-EA3F83CDF193}"/>
              </a:ext>
            </a:extLst>
          </p:cNvPr>
          <p:cNvSpPr txBox="1"/>
          <p:nvPr/>
        </p:nvSpPr>
        <p:spPr>
          <a:xfrm>
            <a:off x="1415627" y="3631485"/>
            <a:ext cx="8283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Per poter gestire le esigenze dei singoli territori, laddove la guida pratica ai corsi lo permette, </a:t>
            </a:r>
          </a:p>
          <a:p>
            <a:r>
              <a:rPr lang="it-IT" b="1" dirty="0"/>
              <a:t>è stato utilizzato un UG di ruolo Nazionale.</a:t>
            </a:r>
          </a:p>
        </p:txBody>
      </p:sp>
    </p:spTree>
    <p:extLst>
      <p:ext uri="{BB962C8B-B14F-4D97-AF65-F5344CB8AC3E}">
        <p14:creationId xmlns:p14="http://schemas.microsoft.com/office/powerpoint/2010/main" val="3298511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8C48737C-35E2-9458-A15F-A350A74E5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>
            <a:extLst>
              <a:ext uri="{FF2B5EF4-FFF2-40B4-BE49-F238E27FC236}">
                <a16:creationId xmlns:a16="http://schemas.microsoft.com/office/drawing/2014/main" id="{C3631F0C-86BD-DB2E-B509-1B75330F9ECF}"/>
              </a:ext>
            </a:extLst>
          </p:cNvPr>
          <p:cNvSpPr/>
          <p:nvPr/>
        </p:nvSpPr>
        <p:spPr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>
            <a:extLst>
              <a:ext uri="{FF2B5EF4-FFF2-40B4-BE49-F238E27FC236}">
                <a16:creationId xmlns:a16="http://schemas.microsoft.com/office/drawing/2014/main" id="{9A9FE2FE-145D-8A94-DAA6-51CBB18F674C}"/>
              </a:ext>
            </a:extLst>
          </p:cNvPr>
          <p:cNvSpPr/>
          <p:nvPr/>
        </p:nvSpPr>
        <p:spPr>
          <a:xfrm rot="-5400000">
            <a:off x="-2250757" y="2250757"/>
            <a:ext cx="6858000" cy="2356485"/>
          </a:xfrm>
          <a:custGeom>
            <a:avLst/>
            <a:gdLst/>
            <a:ahLst/>
            <a:cxnLst/>
            <a:rect l="l" t="t" r="r" b="b"/>
            <a:pathLst>
              <a:path w="872" h="453" extrusionOk="0">
                <a:moveTo>
                  <a:pt x="0" y="0"/>
                </a:moveTo>
                <a:cubicBezTo>
                  <a:pt x="0" y="453"/>
                  <a:pt x="0" y="453"/>
                  <a:pt x="0" y="453"/>
                </a:cubicBezTo>
                <a:cubicBezTo>
                  <a:pt x="23" y="401"/>
                  <a:pt x="52" y="353"/>
                  <a:pt x="87" y="310"/>
                </a:cubicBezTo>
                <a:cubicBezTo>
                  <a:pt x="94" y="301"/>
                  <a:pt x="101" y="293"/>
                  <a:pt x="108" y="284"/>
                </a:cubicBezTo>
                <a:cubicBezTo>
                  <a:pt x="116" y="275"/>
                  <a:pt x="125" y="266"/>
                  <a:pt x="133" y="258"/>
                </a:cubicBezTo>
                <a:cubicBezTo>
                  <a:pt x="248" y="143"/>
                  <a:pt x="406" y="72"/>
                  <a:pt x="581" y="72"/>
                </a:cubicBezTo>
                <a:cubicBezTo>
                  <a:pt x="872" y="72"/>
                  <a:pt x="872" y="72"/>
                  <a:pt x="872" y="72"/>
                </a:cubicBezTo>
                <a:cubicBezTo>
                  <a:pt x="872" y="0"/>
                  <a:pt x="872" y="0"/>
                  <a:pt x="872" y="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2060"/>
              </a:gs>
              <a:gs pos="14000">
                <a:srgbClr val="0070C0"/>
              </a:gs>
              <a:gs pos="100000">
                <a:srgbClr val="FCFEF3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50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it-IT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>
            <a:extLst>
              <a:ext uri="{FF2B5EF4-FFF2-40B4-BE49-F238E27FC236}">
                <a16:creationId xmlns:a16="http://schemas.microsoft.com/office/drawing/2014/main" id="{38750322-CA73-4AC9-EE32-384A25FD5308}"/>
              </a:ext>
            </a:extLst>
          </p:cNvPr>
          <p:cNvSpPr txBox="1"/>
          <p:nvPr/>
        </p:nvSpPr>
        <p:spPr>
          <a:xfrm>
            <a:off x="2518913" y="103516"/>
            <a:ext cx="73755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it-IT" sz="2800" b="1" i="0" u="none" strike="noStrike" cap="none" dirty="0">
                <a:solidFill>
                  <a:srgbClr val="C00000"/>
                </a:solidFill>
                <a:latin typeface="Aharoni"/>
                <a:ea typeface="Aharoni"/>
                <a:cs typeface="Aharoni"/>
                <a:sym typeface="Aharoni"/>
              </a:rPr>
              <a:t>Corsi Arbitri Indoor</a:t>
            </a:r>
            <a:endParaRPr sz="2800" b="1" i="0" u="none" strike="noStrike" cap="none" dirty="0">
              <a:solidFill>
                <a:srgbClr val="C00000"/>
              </a:solidFill>
              <a:latin typeface="Aharoni"/>
              <a:ea typeface="Aharoni"/>
              <a:cs typeface="Aharoni"/>
              <a:sym typeface="Aharon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1" i="0" u="none" strike="noStrike" cap="none" dirty="0">
              <a:solidFill>
                <a:srgbClr val="C00000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pic>
        <p:nvPicPr>
          <p:cNvPr id="2" name="image7.png" descr="Immagine che contiene Elementi grafici, clipart, disegno, grafica&#10;&#10;Il contenuto generato dall'IA potrebbe non essere corretto.">
            <a:extLst>
              <a:ext uri="{FF2B5EF4-FFF2-40B4-BE49-F238E27FC236}">
                <a16:creationId xmlns:a16="http://schemas.microsoft.com/office/drawing/2014/main" id="{6A453D4A-99D9-D57D-B104-2292D91C8277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25307" y="5773102"/>
            <a:ext cx="1290320" cy="1001395"/>
          </a:xfrm>
          <a:prstGeom prst="rect">
            <a:avLst/>
          </a:prstGeom>
          <a:ln/>
        </p:spPr>
      </p:pic>
      <p:graphicFrame>
        <p:nvGraphicFramePr>
          <p:cNvPr id="3" name="Tabella 2">
            <a:extLst>
              <a:ext uri="{FF2B5EF4-FFF2-40B4-BE49-F238E27FC236}">
                <a16:creationId xmlns:a16="http://schemas.microsoft.com/office/drawing/2014/main" id="{6574BFD4-1AC5-7429-0509-DE8B52A685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3955192"/>
              </p:ext>
            </p:extLst>
          </p:nvPr>
        </p:nvGraphicFramePr>
        <p:xfrm>
          <a:off x="1684867" y="1057816"/>
          <a:ext cx="9753601" cy="5096924"/>
        </p:xfrm>
        <a:graphic>
          <a:graphicData uri="http://schemas.openxmlformats.org/drawingml/2006/table">
            <a:tbl>
              <a:tblPr/>
              <a:tblGrid>
                <a:gridCol w="1173002">
                  <a:extLst>
                    <a:ext uri="{9D8B030D-6E8A-4147-A177-3AD203B41FA5}">
                      <a16:colId xmlns:a16="http://schemas.microsoft.com/office/drawing/2014/main" val="1039163556"/>
                    </a:ext>
                  </a:extLst>
                </a:gridCol>
                <a:gridCol w="2153372">
                  <a:extLst>
                    <a:ext uri="{9D8B030D-6E8A-4147-A177-3AD203B41FA5}">
                      <a16:colId xmlns:a16="http://schemas.microsoft.com/office/drawing/2014/main" val="3729710006"/>
                    </a:ext>
                  </a:extLst>
                </a:gridCol>
                <a:gridCol w="394655">
                  <a:extLst>
                    <a:ext uri="{9D8B030D-6E8A-4147-A177-3AD203B41FA5}">
                      <a16:colId xmlns:a16="http://schemas.microsoft.com/office/drawing/2014/main" val="3624687704"/>
                    </a:ext>
                  </a:extLst>
                </a:gridCol>
                <a:gridCol w="1005824">
                  <a:extLst>
                    <a:ext uri="{9D8B030D-6E8A-4147-A177-3AD203B41FA5}">
                      <a16:colId xmlns:a16="http://schemas.microsoft.com/office/drawing/2014/main" val="654004502"/>
                    </a:ext>
                  </a:extLst>
                </a:gridCol>
                <a:gridCol w="2898435">
                  <a:extLst>
                    <a:ext uri="{9D8B030D-6E8A-4147-A177-3AD203B41FA5}">
                      <a16:colId xmlns:a16="http://schemas.microsoft.com/office/drawing/2014/main" val="690807941"/>
                    </a:ext>
                  </a:extLst>
                </a:gridCol>
                <a:gridCol w="387607">
                  <a:extLst>
                    <a:ext uri="{9D8B030D-6E8A-4147-A177-3AD203B41FA5}">
                      <a16:colId xmlns:a16="http://schemas.microsoft.com/office/drawing/2014/main" val="2722345653"/>
                    </a:ext>
                  </a:extLst>
                </a:gridCol>
                <a:gridCol w="704739">
                  <a:extLst>
                    <a:ext uri="{9D8B030D-6E8A-4147-A177-3AD203B41FA5}">
                      <a16:colId xmlns:a16="http://schemas.microsoft.com/office/drawing/2014/main" val="1122918766"/>
                    </a:ext>
                  </a:extLst>
                </a:gridCol>
                <a:gridCol w="1035967">
                  <a:extLst>
                    <a:ext uri="{9D8B030D-6E8A-4147-A177-3AD203B41FA5}">
                      <a16:colId xmlns:a16="http://schemas.microsoft.com/office/drawing/2014/main" val="4051526910"/>
                    </a:ext>
                  </a:extLst>
                </a:gridCol>
              </a:tblGrid>
              <a:tr h="281803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1">
                          <a:effectLst/>
                          <a:latin typeface="Arial" panose="020B0604020202020204" pitchFamily="34" charset="0"/>
                        </a:rPr>
                        <a:t>PIACENZA</a:t>
                      </a: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1">
                          <a:effectLst/>
                          <a:latin typeface="Arial" panose="020B0604020202020204" pitchFamily="34" charset="0"/>
                        </a:rPr>
                        <a:t>Formula Week-End</a:t>
                      </a:r>
                    </a:p>
                  </a:txBody>
                  <a:tcPr marL="12950" marR="12950" marT="0" marB="0" anchor="b">
                    <a:lnL>
                      <a:noFill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1">
                          <a:effectLst/>
                          <a:latin typeface="Arial" panose="020B0604020202020204" pitchFamily="34" charset="0"/>
                        </a:rPr>
                        <a:t>Parma</a:t>
                      </a: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1">
                          <a:effectLst/>
                          <a:latin typeface="Arial" panose="020B0604020202020204" pitchFamily="34" charset="0"/>
                        </a:rPr>
                        <a:t>Serale</a:t>
                      </a:r>
                    </a:p>
                  </a:txBody>
                  <a:tcPr marL="12950" marR="12950" marT="0" marB="0" anchor="b">
                    <a:lnL>
                      <a:noFill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1">
                          <a:effectLst/>
                          <a:latin typeface="Arial" panose="020B0604020202020204" pitchFamily="34" charset="0"/>
                        </a:rPr>
                        <a:t>Parma</a:t>
                      </a: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1">
                          <a:effectLst/>
                          <a:latin typeface="Arial" panose="020B0604020202020204" pitchFamily="34" charset="0"/>
                        </a:rPr>
                        <a:t>Scuole</a:t>
                      </a:r>
                    </a:p>
                  </a:txBody>
                  <a:tcPr marL="12950" marR="12950" marT="0" marB="0" anchor="b">
                    <a:lnL>
                      <a:noFill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6949977"/>
                  </a:ext>
                </a:extLst>
              </a:tr>
              <a:tr h="28425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DD</a:t>
                      </a: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Prandini Giancarla</a:t>
                      </a:r>
                    </a:p>
                  </a:txBody>
                  <a:tcPr marL="12950" marR="12950" marT="0" marB="0" anchor="b">
                    <a:lnL>
                      <a:noFill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DD</a:t>
                      </a: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Lombardi Corrado</a:t>
                      </a:r>
                    </a:p>
                  </a:txBody>
                  <a:tcPr marL="12950" marR="12950" marT="0" marB="0" anchor="b">
                    <a:lnL>
                      <a:noFill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DD</a:t>
                      </a: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Clemente Andrea</a:t>
                      </a:r>
                    </a:p>
                  </a:txBody>
                  <a:tcPr marL="12950" marR="12950" marT="0" marB="0" anchor="b">
                    <a:lnL>
                      <a:noFill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5896043"/>
                  </a:ext>
                </a:extLst>
              </a:tr>
              <a:tr h="28425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Docenti</a:t>
                      </a: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Prandini, Giani, Khatra</a:t>
                      </a:r>
                    </a:p>
                  </a:txBody>
                  <a:tcPr marL="12950" marR="12950" marT="0" marB="0" anchor="b">
                    <a:lnL>
                      <a:noFill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Docenti</a:t>
                      </a: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Lombardi, Di Pasquale, Dellapina, Clemente, Lambertini</a:t>
                      </a:r>
                    </a:p>
                  </a:txBody>
                  <a:tcPr marL="12950" marR="12950" marT="0" marB="0" anchor="b">
                    <a:lnL>
                      <a:noFill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Docenti</a:t>
                      </a: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Clemente Andrea</a:t>
                      </a:r>
                    </a:p>
                  </a:txBody>
                  <a:tcPr marL="12950" marR="12950" marT="0" marB="0" anchor="b">
                    <a:lnL>
                      <a:noFill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4448203"/>
                  </a:ext>
                </a:extLst>
              </a:tr>
              <a:tr h="281803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Nr. Corsisti</a:t>
                      </a: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12950" marR="12950" marT="0" marB="0" anchor="b">
                    <a:lnL>
                      <a:noFill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Nr. Corsisti</a:t>
                      </a: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12950" marR="12950" marT="0" marB="0" anchor="b">
                    <a:lnL>
                      <a:noFill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Nr. Corsisti</a:t>
                      </a: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12950" marR="12950" marT="0" marB="0" anchor="b">
                    <a:lnL>
                      <a:noFill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1092618"/>
                  </a:ext>
                </a:extLst>
              </a:tr>
              <a:tr h="28425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Periodo</a:t>
                      </a: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Settembre-Ottobre</a:t>
                      </a:r>
                    </a:p>
                  </a:txBody>
                  <a:tcPr marL="12950" marR="12950" marT="0" marB="0" anchor="b">
                    <a:lnL>
                      <a:noFill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Periodo</a:t>
                      </a: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Settembre-Novembre</a:t>
                      </a:r>
                    </a:p>
                  </a:txBody>
                  <a:tcPr marL="12950" marR="12950" marT="0" marB="0" anchor="b">
                    <a:lnL>
                      <a:noFill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Periodo</a:t>
                      </a: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Settembre-Novembre</a:t>
                      </a:r>
                    </a:p>
                  </a:txBody>
                  <a:tcPr marL="12950" marR="12950" marT="0" marB="0" anchor="b">
                    <a:lnL>
                      <a:noFill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5791526"/>
                  </a:ext>
                </a:extLst>
              </a:tr>
              <a:tr h="1421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1324143"/>
                  </a:ext>
                </a:extLst>
              </a:tr>
              <a:tr h="281803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1">
                          <a:effectLst/>
                          <a:latin typeface="Arial" panose="020B0604020202020204" pitchFamily="34" charset="0"/>
                        </a:rPr>
                        <a:t>REGGIO EMILIA</a:t>
                      </a: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1">
                          <a:effectLst/>
                          <a:latin typeface="Arial" panose="020B0604020202020204" pitchFamily="34" charset="0"/>
                        </a:rPr>
                        <a:t>Formula Week-End e serale</a:t>
                      </a:r>
                    </a:p>
                  </a:txBody>
                  <a:tcPr marL="12950" marR="12950" marT="0" marB="0" anchor="b">
                    <a:lnL>
                      <a:noFill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1">
                          <a:effectLst/>
                          <a:latin typeface="Arial" panose="020B0604020202020204" pitchFamily="34" charset="0"/>
                        </a:rPr>
                        <a:t>Modena</a:t>
                      </a: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1">
                          <a:effectLst/>
                          <a:latin typeface="Arial" panose="020B0604020202020204" pitchFamily="34" charset="0"/>
                        </a:rPr>
                        <a:t>Serale</a:t>
                      </a:r>
                    </a:p>
                  </a:txBody>
                  <a:tcPr marL="12950" marR="12950" marT="0" marB="0" anchor="b">
                    <a:lnL>
                      <a:noFill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3548568"/>
                  </a:ext>
                </a:extLst>
              </a:tr>
              <a:tr h="1421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DD</a:t>
                      </a: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Rossi Daniele</a:t>
                      </a:r>
                    </a:p>
                  </a:txBody>
                  <a:tcPr marL="12950" marR="12950" marT="0" marB="0" anchor="b">
                    <a:lnL>
                      <a:noFill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DD</a:t>
                      </a: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Scognamiglio Paola</a:t>
                      </a:r>
                    </a:p>
                  </a:txBody>
                  <a:tcPr marL="12950" marR="12950" marT="0" marB="0" anchor="b">
                    <a:lnL>
                      <a:noFill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4179180"/>
                  </a:ext>
                </a:extLst>
              </a:tr>
              <a:tr h="28425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Docente</a:t>
                      </a: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Rossi Daniele</a:t>
                      </a:r>
                    </a:p>
                  </a:txBody>
                  <a:tcPr marL="12950" marR="12950" marT="0" marB="0" anchor="b">
                    <a:lnL>
                      <a:noFill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Docenti</a:t>
                      </a: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Scognamiglio, Selmi, Pazzi, Greco, Benatti, Gorelli, Santoro</a:t>
                      </a:r>
                    </a:p>
                  </a:txBody>
                  <a:tcPr marL="12950" marR="12950" marT="0" marB="0" anchor="b">
                    <a:lnL>
                      <a:noFill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4933390"/>
                  </a:ext>
                </a:extLst>
              </a:tr>
              <a:tr h="281803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Nr. Corsisti</a:t>
                      </a: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16</a:t>
                      </a:r>
                    </a:p>
                  </a:txBody>
                  <a:tcPr marL="12950" marR="12950" marT="0" marB="0" anchor="b">
                    <a:lnL>
                      <a:noFill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Nr. Corsisti</a:t>
                      </a: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 marL="12950" marR="12950" marT="0" marB="0" anchor="b">
                    <a:lnL>
                      <a:noFill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4586876"/>
                  </a:ext>
                </a:extLst>
              </a:tr>
              <a:tr h="1421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Periodo</a:t>
                      </a: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Settembre-Ottobre</a:t>
                      </a:r>
                    </a:p>
                  </a:txBody>
                  <a:tcPr marL="12950" marR="12950" marT="0" marB="0" anchor="b">
                    <a:lnL>
                      <a:noFill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Periodo</a:t>
                      </a: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Ottobre-Dicembre</a:t>
                      </a:r>
                    </a:p>
                  </a:txBody>
                  <a:tcPr marL="12950" marR="12950" marT="0" marB="0" anchor="b">
                    <a:lnL>
                      <a:noFill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2050846"/>
                  </a:ext>
                </a:extLst>
              </a:tr>
              <a:tr h="1421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5620441"/>
                  </a:ext>
                </a:extLst>
              </a:tr>
              <a:tr h="281803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1">
                          <a:effectLst/>
                          <a:latin typeface="Arial" panose="020B0604020202020204" pitchFamily="34" charset="0"/>
                        </a:rPr>
                        <a:t>BOLOGNA</a:t>
                      </a: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Formula Week-End</a:t>
                      </a:r>
                    </a:p>
                  </a:txBody>
                  <a:tcPr marL="12950" marR="12950" marT="0" marB="0" anchor="b">
                    <a:lnL>
                      <a:noFill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1">
                          <a:effectLst/>
                          <a:latin typeface="Arial" panose="020B0604020202020204" pitchFamily="34" charset="0"/>
                        </a:rPr>
                        <a:t>Ferrara</a:t>
                      </a: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1">
                          <a:effectLst/>
                          <a:latin typeface="Arial" panose="020B0604020202020204" pitchFamily="34" charset="0"/>
                        </a:rPr>
                        <a:t>Formula Week-End e serale</a:t>
                      </a:r>
                    </a:p>
                  </a:txBody>
                  <a:tcPr marL="12950" marR="12950" marT="0" marB="0" anchor="b">
                    <a:lnL>
                      <a:noFill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6457256"/>
                  </a:ext>
                </a:extLst>
              </a:tr>
              <a:tr h="1421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DD</a:t>
                      </a: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Santoro Tecla Natasha</a:t>
                      </a:r>
                    </a:p>
                  </a:txBody>
                  <a:tcPr marL="12950" marR="12950" marT="0" marB="0" anchor="b">
                    <a:lnL>
                      <a:noFill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DD</a:t>
                      </a: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Gnani Giorgio</a:t>
                      </a:r>
                    </a:p>
                  </a:txBody>
                  <a:tcPr marL="12950" marR="12950" marT="0" marB="0" anchor="b">
                    <a:lnL>
                      <a:noFill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3159287"/>
                  </a:ext>
                </a:extLst>
              </a:tr>
              <a:tr h="28425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Docenti</a:t>
                      </a: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Santoro, Massone, Bianchini, Tawfik</a:t>
                      </a:r>
                    </a:p>
                  </a:txBody>
                  <a:tcPr marL="12950" marR="12950" marT="0" marB="0" anchor="b">
                    <a:lnL>
                      <a:noFill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Docenti</a:t>
                      </a: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Gnani, Pazzi, Massone, Scognamiglio, Schino, Crescentini, Santoro</a:t>
                      </a:r>
                    </a:p>
                  </a:txBody>
                  <a:tcPr marL="12950" marR="12950" marT="0" marB="0" anchor="b">
                    <a:lnL>
                      <a:noFill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689317"/>
                  </a:ext>
                </a:extLst>
              </a:tr>
              <a:tr h="281803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Nr. Corsisti</a:t>
                      </a: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12950" marR="12950" marT="0" marB="0" anchor="b">
                    <a:lnL>
                      <a:noFill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Nr. Corsisti</a:t>
                      </a: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12950" marR="12950" marT="0" marB="0" anchor="b">
                    <a:lnL>
                      <a:noFill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2734153"/>
                  </a:ext>
                </a:extLst>
              </a:tr>
              <a:tr h="1421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Periodo</a:t>
                      </a: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Settembre-Ottobre</a:t>
                      </a:r>
                    </a:p>
                  </a:txBody>
                  <a:tcPr marL="12950" marR="12950" marT="0" marB="0" anchor="b">
                    <a:lnL>
                      <a:noFill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Periodo</a:t>
                      </a: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Novembre-Dicembre</a:t>
                      </a:r>
                    </a:p>
                  </a:txBody>
                  <a:tcPr marL="12950" marR="12950" marT="0" marB="0" anchor="b">
                    <a:lnL>
                      <a:noFill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0202084"/>
                  </a:ext>
                </a:extLst>
              </a:tr>
              <a:tr h="1421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0395975"/>
                  </a:ext>
                </a:extLst>
              </a:tr>
              <a:tr h="281803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1">
                          <a:effectLst/>
                          <a:latin typeface="Arial" panose="020B0604020202020204" pitchFamily="34" charset="0"/>
                        </a:rPr>
                        <a:t>R1</a:t>
                      </a: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1">
                          <a:effectLst/>
                          <a:latin typeface="Arial" panose="020B0604020202020204" pitchFamily="34" charset="0"/>
                        </a:rPr>
                        <a:t>Serale</a:t>
                      </a:r>
                    </a:p>
                  </a:txBody>
                  <a:tcPr marL="12950" marR="12950" marT="0" marB="0" anchor="b">
                    <a:lnL>
                      <a:noFill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1">
                          <a:effectLst/>
                          <a:latin typeface="Arial" panose="020B0604020202020204" pitchFamily="34" charset="0"/>
                        </a:rPr>
                        <a:t>Ravenna</a:t>
                      </a: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1">
                          <a:effectLst/>
                          <a:latin typeface="Arial" panose="020B0604020202020204" pitchFamily="34" charset="0"/>
                        </a:rPr>
                        <a:t>Formula Week-End e serale</a:t>
                      </a:r>
                    </a:p>
                  </a:txBody>
                  <a:tcPr marL="12950" marR="12950" marT="0" marB="0" anchor="b">
                    <a:lnL>
                      <a:noFill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 dirty="0">
                        <a:effectLst/>
                      </a:endParaRPr>
                    </a:p>
                  </a:txBody>
                  <a:tcPr marL="12950" marR="1295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1196721"/>
                  </a:ext>
                </a:extLst>
              </a:tr>
              <a:tr h="1421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DD</a:t>
                      </a: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Schino Francesco</a:t>
                      </a:r>
                    </a:p>
                  </a:txBody>
                  <a:tcPr marL="12950" marR="12950" marT="0" marB="0" anchor="b">
                    <a:lnL>
                      <a:noFill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DD</a:t>
                      </a: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Fanucci Massimo</a:t>
                      </a:r>
                    </a:p>
                  </a:txBody>
                  <a:tcPr marL="12950" marR="12950" marT="0" marB="0" anchor="b">
                    <a:lnL>
                      <a:noFill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1735805"/>
                  </a:ext>
                </a:extLst>
              </a:tr>
              <a:tr h="1421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Docente</a:t>
                      </a: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Schino, Righi, Greco, Saudelli</a:t>
                      </a:r>
                    </a:p>
                  </a:txBody>
                  <a:tcPr marL="12950" marR="12950" marT="0" marB="0" anchor="b">
                    <a:lnL>
                      <a:noFill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Docenti</a:t>
                      </a: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Fanucci, Ravaioli</a:t>
                      </a:r>
                    </a:p>
                  </a:txBody>
                  <a:tcPr marL="12950" marR="12950" marT="0" marB="0" anchor="b">
                    <a:lnL>
                      <a:noFill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4484545"/>
                  </a:ext>
                </a:extLst>
              </a:tr>
              <a:tr h="281803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Nr. Corsisti</a:t>
                      </a: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12950" marR="12950" marT="0" marB="0" anchor="b">
                    <a:lnL>
                      <a:noFill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Nr. Corsisti</a:t>
                      </a: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12950" marR="12950" marT="0" marB="0" anchor="b">
                    <a:lnL>
                      <a:noFill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3794011"/>
                  </a:ext>
                </a:extLst>
              </a:tr>
              <a:tr h="1421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Periodo</a:t>
                      </a: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Ottobre-Novembre</a:t>
                      </a:r>
                    </a:p>
                  </a:txBody>
                  <a:tcPr marL="12950" marR="12950" marT="0" marB="0" anchor="b">
                    <a:lnL>
                      <a:noFill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Periodo</a:t>
                      </a: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it-IT" sz="800" b="0">
                          <a:effectLst/>
                          <a:latin typeface="Arial" panose="020B0604020202020204" pitchFamily="34" charset="0"/>
                        </a:rPr>
                        <a:t>Ottobre-Novembre</a:t>
                      </a:r>
                    </a:p>
                  </a:txBody>
                  <a:tcPr marL="12950" marR="12950" marT="0" marB="0" anchor="b">
                    <a:lnL>
                      <a:noFill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>
                        <a:effectLst/>
                      </a:endParaRPr>
                    </a:p>
                  </a:txBody>
                  <a:tcPr marL="12950" marR="1295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it-IT" sz="800" dirty="0">
                        <a:effectLst/>
                      </a:endParaRPr>
                    </a:p>
                  </a:txBody>
                  <a:tcPr marL="12950" marR="1295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2013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25155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EAF39161-075A-AD76-FB3A-9A0DA3124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>
            <a:extLst>
              <a:ext uri="{FF2B5EF4-FFF2-40B4-BE49-F238E27FC236}">
                <a16:creationId xmlns:a16="http://schemas.microsoft.com/office/drawing/2014/main" id="{4D4AD4C9-F85C-D8AB-DC4C-D958F18A2E32}"/>
              </a:ext>
            </a:extLst>
          </p:cNvPr>
          <p:cNvSpPr/>
          <p:nvPr/>
        </p:nvSpPr>
        <p:spPr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>
            <a:extLst>
              <a:ext uri="{FF2B5EF4-FFF2-40B4-BE49-F238E27FC236}">
                <a16:creationId xmlns:a16="http://schemas.microsoft.com/office/drawing/2014/main" id="{F038CB1C-0AB2-547B-A703-26CC305DEA03}"/>
              </a:ext>
            </a:extLst>
          </p:cNvPr>
          <p:cNvSpPr/>
          <p:nvPr/>
        </p:nvSpPr>
        <p:spPr>
          <a:xfrm rot="-5400000">
            <a:off x="-2250757" y="2250757"/>
            <a:ext cx="6858000" cy="2356485"/>
          </a:xfrm>
          <a:custGeom>
            <a:avLst/>
            <a:gdLst/>
            <a:ahLst/>
            <a:cxnLst/>
            <a:rect l="l" t="t" r="r" b="b"/>
            <a:pathLst>
              <a:path w="872" h="453" extrusionOk="0">
                <a:moveTo>
                  <a:pt x="0" y="0"/>
                </a:moveTo>
                <a:cubicBezTo>
                  <a:pt x="0" y="453"/>
                  <a:pt x="0" y="453"/>
                  <a:pt x="0" y="453"/>
                </a:cubicBezTo>
                <a:cubicBezTo>
                  <a:pt x="23" y="401"/>
                  <a:pt x="52" y="353"/>
                  <a:pt x="87" y="310"/>
                </a:cubicBezTo>
                <a:cubicBezTo>
                  <a:pt x="94" y="301"/>
                  <a:pt x="101" y="293"/>
                  <a:pt x="108" y="284"/>
                </a:cubicBezTo>
                <a:cubicBezTo>
                  <a:pt x="116" y="275"/>
                  <a:pt x="125" y="266"/>
                  <a:pt x="133" y="258"/>
                </a:cubicBezTo>
                <a:cubicBezTo>
                  <a:pt x="248" y="143"/>
                  <a:pt x="406" y="72"/>
                  <a:pt x="581" y="72"/>
                </a:cubicBezTo>
                <a:cubicBezTo>
                  <a:pt x="872" y="72"/>
                  <a:pt x="872" y="72"/>
                  <a:pt x="872" y="72"/>
                </a:cubicBezTo>
                <a:cubicBezTo>
                  <a:pt x="872" y="0"/>
                  <a:pt x="872" y="0"/>
                  <a:pt x="872" y="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2060"/>
              </a:gs>
              <a:gs pos="14000">
                <a:srgbClr val="0070C0"/>
              </a:gs>
              <a:gs pos="100000">
                <a:srgbClr val="FCFEF3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50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it-IT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>
            <a:extLst>
              <a:ext uri="{FF2B5EF4-FFF2-40B4-BE49-F238E27FC236}">
                <a16:creationId xmlns:a16="http://schemas.microsoft.com/office/drawing/2014/main" id="{1C11EF19-FA8B-0BCD-78C2-2368B57A24E7}"/>
              </a:ext>
            </a:extLst>
          </p:cNvPr>
          <p:cNvSpPr txBox="1"/>
          <p:nvPr/>
        </p:nvSpPr>
        <p:spPr>
          <a:xfrm>
            <a:off x="2518913" y="103516"/>
            <a:ext cx="73755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it-IT" sz="2800" b="1" i="0" u="none" strike="noStrike" cap="none" dirty="0">
                <a:solidFill>
                  <a:srgbClr val="C00000"/>
                </a:solidFill>
                <a:latin typeface="Aharoni"/>
                <a:ea typeface="Aharoni"/>
                <a:cs typeface="Aharoni"/>
                <a:sym typeface="Aharoni"/>
              </a:rPr>
              <a:t>Formazione agli UG Regionali</a:t>
            </a:r>
            <a:endParaRPr sz="2800" b="1" i="0" u="none" strike="noStrike" cap="none" dirty="0">
              <a:solidFill>
                <a:srgbClr val="C00000"/>
              </a:solidFill>
              <a:latin typeface="Aharoni"/>
              <a:ea typeface="Aharoni"/>
              <a:cs typeface="Aharoni"/>
              <a:sym typeface="Aharon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1" i="0" u="none" strike="noStrike" cap="none" dirty="0">
              <a:solidFill>
                <a:srgbClr val="C00000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pic>
        <p:nvPicPr>
          <p:cNvPr id="2" name="image7.png" descr="Immagine che contiene Elementi grafici, clipart, disegno, grafica&#10;&#10;Il contenuto generato dall'IA potrebbe non essere corretto.">
            <a:extLst>
              <a:ext uri="{FF2B5EF4-FFF2-40B4-BE49-F238E27FC236}">
                <a16:creationId xmlns:a16="http://schemas.microsoft.com/office/drawing/2014/main" id="{5BF09AE6-1C61-063B-78F1-7D1C4A7E8A13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25307" y="5773102"/>
            <a:ext cx="1290320" cy="1001395"/>
          </a:xfrm>
          <a:prstGeom prst="rect">
            <a:avLst/>
          </a:prstGeom>
          <a:ln/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276A247D-8554-4E0B-34F7-E0AD4439015C}"/>
              </a:ext>
            </a:extLst>
          </p:cNvPr>
          <p:cNvSpPr txBox="1"/>
          <p:nvPr/>
        </p:nvSpPr>
        <p:spPr>
          <a:xfrm>
            <a:off x="770467" y="829216"/>
            <a:ext cx="979761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Raduno pre-campionato con lezioni in plenaria e lezioni dedicate per gruppi;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Raduno di recupero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Nr. 3 Riunioni Tecniche Regionali con un argomento tecnico discusso e interventi delle commissioni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Nr. 1 Torneo incentivante Presepe delle Marineria (Cesenatico) con lezioni frontali, in palestra e arbitraggi (27 arbitri convocati);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Nr. 1 Corso Incentivante Nazionale Memorial Campesan (Montegrotto Terme) con lezioni frontali, arbitraggi e osservazioni (nr. 8 arbitri convocati);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Nr. 1 Incontro con gli arbitri di Gruppo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Nr. 1 Incontro con gli arbitri Neo Immessi al ruolo Regionale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Nr. 1 Incontro con gli arbitri Neo Immessi a Gruppo 1 (passaggi infrannuali)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8C9B0AE4-51D4-935E-7910-63C7E9E5172A}"/>
              </a:ext>
            </a:extLst>
          </p:cNvPr>
          <p:cNvSpPr txBox="1"/>
          <p:nvPr/>
        </p:nvSpPr>
        <p:spPr>
          <a:xfrm>
            <a:off x="1563477" y="3905201"/>
            <a:ext cx="979761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Novità regolamentari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Gestione dell’errore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Tecnica del secondo e pratica in campo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La Forma dell’arbitro (dalla tecnica agli aspetti burocratici)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Test formativi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L’autoanalisi sulle proprie prestazioni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Comunicazione non verbale</a:t>
            </a:r>
          </a:p>
        </p:txBody>
      </p:sp>
      <p:sp>
        <p:nvSpPr>
          <p:cNvPr id="5" name="Google Shape;86;p1">
            <a:extLst>
              <a:ext uri="{FF2B5EF4-FFF2-40B4-BE49-F238E27FC236}">
                <a16:creationId xmlns:a16="http://schemas.microsoft.com/office/drawing/2014/main" id="{5B289F04-9DA0-BC84-5125-9365C92A488E}"/>
              </a:ext>
            </a:extLst>
          </p:cNvPr>
          <p:cNvSpPr txBox="1"/>
          <p:nvPr/>
        </p:nvSpPr>
        <p:spPr>
          <a:xfrm>
            <a:off x="2356486" y="3269133"/>
            <a:ext cx="73755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it-IT" sz="2800" b="1" i="0" u="none" strike="noStrike" cap="none" dirty="0">
                <a:solidFill>
                  <a:srgbClr val="C00000"/>
                </a:solidFill>
                <a:latin typeface="Aharoni"/>
                <a:ea typeface="Aharoni"/>
                <a:cs typeface="Aharoni"/>
                <a:sym typeface="Aharoni"/>
              </a:rPr>
              <a:t>Argomenti trattati</a:t>
            </a:r>
            <a:endParaRPr sz="2800" b="1" i="0" u="none" strike="noStrike" cap="none" dirty="0">
              <a:solidFill>
                <a:srgbClr val="C00000"/>
              </a:solidFill>
              <a:latin typeface="Aharoni"/>
              <a:ea typeface="Aharoni"/>
              <a:cs typeface="Aharoni"/>
              <a:sym typeface="Aharon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1" i="0" u="none" strike="noStrike" cap="none" dirty="0">
              <a:solidFill>
                <a:srgbClr val="C00000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</p:spTree>
    <p:extLst>
      <p:ext uri="{BB962C8B-B14F-4D97-AF65-F5344CB8AC3E}">
        <p14:creationId xmlns:p14="http://schemas.microsoft.com/office/powerpoint/2010/main" val="2545970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880FA986-E245-D1E6-1673-0C071C1FE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>
            <a:extLst>
              <a:ext uri="{FF2B5EF4-FFF2-40B4-BE49-F238E27FC236}">
                <a16:creationId xmlns:a16="http://schemas.microsoft.com/office/drawing/2014/main" id="{F9AA8F01-71C6-9ED8-9184-324DAFCBF8AE}"/>
              </a:ext>
            </a:extLst>
          </p:cNvPr>
          <p:cNvSpPr/>
          <p:nvPr/>
        </p:nvSpPr>
        <p:spPr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>
            <a:extLst>
              <a:ext uri="{FF2B5EF4-FFF2-40B4-BE49-F238E27FC236}">
                <a16:creationId xmlns:a16="http://schemas.microsoft.com/office/drawing/2014/main" id="{7B5FD44C-3915-8A84-34C5-CFCAD6E56386}"/>
              </a:ext>
            </a:extLst>
          </p:cNvPr>
          <p:cNvSpPr/>
          <p:nvPr/>
        </p:nvSpPr>
        <p:spPr>
          <a:xfrm rot="-5400000">
            <a:off x="-2250757" y="2250757"/>
            <a:ext cx="6858000" cy="2356485"/>
          </a:xfrm>
          <a:custGeom>
            <a:avLst/>
            <a:gdLst/>
            <a:ahLst/>
            <a:cxnLst/>
            <a:rect l="l" t="t" r="r" b="b"/>
            <a:pathLst>
              <a:path w="872" h="453" extrusionOk="0">
                <a:moveTo>
                  <a:pt x="0" y="0"/>
                </a:moveTo>
                <a:cubicBezTo>
                  <a:pt x="0" y="453"/>
                  <a:pt x="0" y="453"/>
                  <a:pt x="0" y="453"/>
                </a:cubicBezTo>
                <a:cubicBezTo>
                  <a:pt x="23" y="401"/>
                  <a:pt x="52" y="353"/>
                  <a:pt x="87" y="310"/>
                </a:cubicBezTo>
                <a:cubicBezTo>
                  <a:pt x="94" y="301"/>
                  <a:pt x="101" y="293"/>
                  <a:pt x="108" y="284"/>
                </a:cubicBezTo>
                <a:cubicBezTo>
                  <a:pt x="116" y="275"/>
                  <a:pt x="125" y="266"/>
                  <a:pt x="133" y="258"/>
                </a:cubicBezTo>
                <a:cubicBezTo>
                  <a:pt x="248" y="143"/>
                  <a:pt x="406" y="72"/>
                  <a:pt x="581" y="72"/>
                </a:cubicBezTo>
                <a:cubicBezTo>
                  <a:pt x="872" y="72"/>
                  <a:pt x="872" y="72"/>
                  <a:pt x="872" y="72"/>
                </a:cubicBezTo>
                <a:cubicBezTo>
                  <a:pt x="872" y="0"/>
                  <a:pt x="872" y="0"/>
                  <a:pt x="872" y="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2060"/>
              </a:gs>
              <a:gs pos="14000">
                <a:srgbClr val="0070C0"/>
              </a:gs>
              <a:gs pos="100000">
                <a:srgbClr val="FCFEF3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50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it-IT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>
            <a:extLst>
              <a:ext uri="{FF2B5EF4-FFF2-40B4-BE49-F238E27FC236}">
                <a16:creationId xmlns:a16="http://schemas.microsoft.com/office/drawing/2014/main" id="{F2D6A3D4-7E24-13AC-F57E-009DA7E3C023}"/>
              </a:ext>
            </a:extLst>
          </p:cNvPr>
          <p:cNvSpPr txBox="1"/>
          <p:nvPr/>
        </p:nvSpPr>
        <p:spPr>
          <a:xfrm>
            <a:off x="2518913" y="103516"/>
            <a:ext cx="73755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it-IT" sz="2800" b="1" i="0" u="none" strike="noStrike" cap="none" dirty="0">
                <a:solidFill>
                  <a:srgbClr val="C00000"/>
                </a:solidFill>
                <a:latin typeface="Aharoni"/>
                <a:ea typeface="Aharoni"/>
                <a:cs typeface="Aharoni"/>
                <a:sym typeface="Aharoni"/>
              </a:rPr>
              <a:t>Arbitri Beach Volley - Panoramica</a:t>
            </a:r>
            <a:endParaRPr sz="2800" b="1" i="0" u="none" strike="noStrike" cap="none" dirty="0">
              <a:solidFill>
                <a:srgbClr val="C00000"/>
              </a:solidFill>
              <a:latin typeface="Aharoni"/>
              <a:ea typeface="Aharoni"/>
              <a:cs typeface="Aharoni"/>
              <a:sym typeface="Aharon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1" i="0" u="none" strike="noStrike" cap="none" dirty="0">
              <a:solidFill>
                <a:srgbClr val="C00000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pic>
        <p:nvPicPr>
          <p:cNvPr id="2" name="image7.png" descr="Immagine che contiene Elementi grafici, clipart, disegno, grafica&#10;&#10;Il contenuto generato dall'IA potrebbe non essere corretto.">
            <a:extLst>
              <a:ext uri="{FF2B5EF4-FFF2-40B4-BE49-F238E27FC236}">
                <a16:creationId xmlns:a16="http://schemas.microsoft.com/office/drawing/2014/main" id="{1654FBDF-5C18-C86A-3BD8-F4F32637A8DF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25307" y="5773102"/>
            <a:ext cx="1290320" cy="1001395"/>
          </a:xfrm>
          <a:prstGeom prst="rect">
            <a:avLst/>
          </a:prstGeom>
          <a:ln/>
        </p:spPr>
      </p:pic>
      <p:sp>
        <p:nvSpPr>
          <p:cNvPr id="87" name="TextBox 86"/>
          <p:cNvSpPr txBox="1"/>
          <p:nvPr/>
        </p:nvSpPr>
        <p:spPr>
          <a:xfrm>
            <a:off x="410714" y="1085649"/>
            <a:ext cx="3043687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Calibri"/>
              </a:rPr>
              <a:t>65 Arbitri  |  15 Supervisori  |  Età media: 40 anni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10714" y="1500000"/>
            <a:ext cx="3043687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Arbitri attivi 2024-25: 25 su 65 (38%)</a:t>
            </a:r>
          </a:p>
        </p:txBody>
      </p:sp>
      <p:graphicFrame>
        <p:nvGraphicFramePr>
          <p:cNvPr id="89" name="Table 88"/>
          <p:cNvGraphicFramePr>
            <a:graphicFrameLocks noGrp="1"/>
          </p:cNvGraphicFramePr>
          <p:nvPr/>
        </p:nvGraphicFramePr>
        <p:xfrm>
          <a:off x="3500000" y="1050000"/>
          <a:ext cx="4200000" cy="23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0000"/>
                <a:gridCol w="2100000"/>
              </a:tblGrid>
              <a:tr h="2300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Roboto"/>
                        </a:rPr>
                        <a:t>Comitato</a:t>
                      </a:r>
                    </a:p>
                  </a:txBody>
                  <a:tcPr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Roboto"/>
                        </a:rPr>
                        <a:t>Nr. Arbitri</a:t>
                      </a:r>
                    </a:p>
                  </a:txBody>
                  <a:tcPr>
                    <a:solidFill>
                      <a:srgbClr val="356854"/>
                    </a:solidFill>
                  </a:tcPr>
                </a:tc>
              </a:tr>
              <a:tr h="2300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Romagna Uno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18</a:t>
                      </a:r>
                    </a:p>
                  </a:txBody>
                  <a:tcPr/>
                </a:tc>
              </a:tr>
              <a:tr h="2300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Bologna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14</a:t>
                      </a:r>
                    </a:p>
                  </a:txBody>
                  <a:tcPr/>
                </a:tc>
              </a:tr>
              <a:tr h="2300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Modena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10</a:t>
                      </a:r>
                    </a:p>
                  </a:txBody>
                  <a:tcPr/>
                </a:tc>
              </a:tr>
              <a:tr h="2300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Parma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5</a:t>
                      </a:r>
                    </a:p>
                  </a:txBody>
                  <a:tcPr/>
                </a:tc>
              </a:tr>
              <a:tr h="2300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Ravenna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5</a:t>
                      </a:r>
                    </a:p>
                  </a:txBody>
                  <a:tcPr/>
                </a:tc>
              </a:tr>
              <a:tr h="2300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Piacenza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3</a:t>
                      </a:r>
                    </a:p>
                  </a:txBody>
                  <a:tcPr/>
                </a:tc>
              </a:tr>
              <a:tr h="2300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Reggio Emilia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3</a:t>
                      </a:r>
                    </a:p>
                  </a:txBody>
                  <a:tcPr/>
                </a:tc>
              </a:tr>
              <a:tr h="2300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Ferrara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2</a:t>
                      </a:r>
                    </a:p>
                  </a:txBody>
                  <a:tcPr/>
                </a:tc>
              </a:tr>
              <a:tr h="2300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Roboto"/>
                        </a:rPr>
                        <a:t>TOTALE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Roboto"/>
                        </a:rPr>
                        <a:t>65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0" name="TextBox 89"/>
          <p:cNvSpPr txBox="1"/>
          <p:nvPr/>
        </p:nvSpPr>
        <p:spPr>
          <a:xfrm>
            <a:off x="410714" y="3400000"/>
            <a:ext cx="3043687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00000"/>
                </a:solidFill>
                <a:latin typeface="Aharoni"/>
              </a:rPr>
              <a:t>Distribuzione per Qualifica</a:t>
            </a:r>
          </a:p>
        </p:txBody>
      </p:sp>
      <p:graphicFrame>
        <p:nvGraphicFramePr>
          <p:cNvPr id="91" name="Table 90"/>
          <p:cNvGraphicFramePr>
            <a:graphicFrameLocks noGrp="1"/>
          </p:cNvGraphicFramePr>
          <p:nvPr/>
        </p:nvGraphicFramePr>
        <p:xfrm>
          <a:off x="3500000" y="3500000"/>
          <a:ext cx="4200000" cy="1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0000"/>
                <a:gridCol w="2100000"/>
              </a:tblGrid>
              <a:tr h="2750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Roboto"/>
                        </a:rPr>
                        <a:t>Qualifica</a:t>
                      </a:r>
                    </a:p>
                  </a:txBody>
                  <a:tcPr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Roboto"/>
                        </a:rPr>
                        <a:t>Nr. Arbitri</a:t>
                      </a:r>
                    </a:p>
                  </a:txBody>
                  <a:tcPr>
                    <a:solidFill>
                      <a:srgbClr val="356854"/>
                    </a:solidFill>
                  </a:tcPr>
                </a:tc>
              </a:tr>
              <a:tr h="2750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PR - Provinciale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~20</a:t>
                      </a:r>
                    </a:p>
                  </a:txBody>
                  <a:tcPr/>
                </a:tc>
              </a:tr>
              <a:tr h="2750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RE - Regionale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~32</a:t>
                      </a:r>
                    </a:p>
                  </a:txBody>
                  <a:tcPr/>
                </a:tc>
              </a:tr>
              <a:tr h="2750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NA - Nazionale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~13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2" name="TextBox 91"/>
          <p:cNvSpPr txBox="1"/>
          <p:nvPr/>
        </p:nvSpPr>
        <p:spPr>
          <a:xfrm>
            <a:off x="8000000" y="1050000"/>
            <a:ext cx="3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00000"/>
                </a:solidFill>
                <a:latin typeface="Aharoni"/>
              </a:rPr>
              <a:t>Fasce di Età</a:t>
            </a:r>
          </a:p>
        </p:txBody>
      </p:sp>
      <p:graphicFrame>
        <p:nvGraphicFramePr>
          <p:cNvPr id="93" name="Table 92"/>
          <p:cNvGraphicFramePr>
            <a:graphicFrameLocks noGrp="1"/>
          </p:cNvGraphicFramePr>
          <p:nvPr/>
        </p:nvGraphicFramePr>
        <p:xfrm>
          <a:off x="8000000" y="1500000"/>
          <a:ext cx="3500000" cy="1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0000"/>
                <a:gridCol w="1750000"/>
              </a:tblGrid>
              <a:tr h="266666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Roboto"/>
                        </a:rPr>
                        <a:t>Fascia</a:t>
                      </a:r>
                    </a:p>
                  </a:txBody>
                  <a:tcPr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Roboto"/>
                        </a:rPr>
                        <a:t>Nr. Arbitri</a:t>
                      </a:r>
                    </a:p>
                  </a:txBody>
                  <a:tcPr>
                    <a:solidFill>
                      <a:srgbClr val="356854"/>
                    </a:solidFill>
                  </a:tcPr>
                </a:tc>
              </a:tr>
              <a:tr h="266666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&lt;20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5</a:t>
                      </a:r>
                    </a:p>
                  </a:txBody>
                  <a:tcPr/>
                </a:tc>
              </a:tr>
              <a:tr h="266666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20-30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15</a:t>
                      </a:r>
                    </a:p>
                  </a:txBody>
                  <a:tcPr/>
                </a:tc>
              </a:tr>
              <a:tr h="266666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30-40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11</a:t>
                      </a:r>
                    </a:p>
                  </a:txBody>
                  <a:tcPr/>
                </a:tc>
              </a:tr>
              <a:tr h="266666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40-50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15</a:t>
                      </a:r>
                    </a:p>
                  </a:txBody>
                  <a:tcPr/>
                </a:tc>
              </a:tr>
              <a:tr h="26667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&gt;50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19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03829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723CC14F-3C50-9AB3-2CE1-C0D83CA53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>
            <a:extLst>
              <a:ext uri="{FF2B5EF4-FFF2-40B4-BE49-F238E27FC236}">
                <a16:creationId xmlns:a16="http://schemas.microsoft.com/office/drawing/2014/main" id="{14FD2AB8-7CC8-924B-D73D-5ADB87851633}"/>
              </a:ext>
            </a:extLst>
          </p:cNvPr>
          <p:cNvSpPr/>
          <p:nvPr/>
        </p:nvSpPr>
        <p:spPr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>
            <a:extLst>
              <a:ext uri="{FF2B5EF4-FFF2-40B4-BE49-F238E27FC236}">
                <a16:creationId xmlns:a16="http://schemas.microsoft.com/office/drawing/2014/main" id="{D0763F71-FA1C-C7E9-B13B-8C9735C409ED}"/>
              </a:ext>
            </a:extLst>
          </p:cNvPr>
          <p:cNvSpPr/>
          <p:nvPr/>
        </p:nvSpPr>
        <p:spPr>
          <a:xfrm rot="-5400000">
            <a:off x="-2250757" y="2250757"/>
            <a:ext cx="6858000" cy="2356485"/>
          </a:xfrm>
          <a:custGeom>
            <a:avLst/>
            <a:gdLst/>
            <a:ahLst/>
            <a:cxnLst/>
            <a:rect l="l" t="t" r="r" b="b"/>
            <a:pathLst>
              <a:path w="872" h="453" extrusionOk="0">
                <a:moveTo>
                  <a:pt x="0" y="0"/>
                </a:moveTo>
                <a:cubicBezTo>
                  <a:pt x="0" y="453"/>
                  <a:pt x="0" y="453"/>
                  <a:pt x="0" y="453"/>
                </a:cubicBezTo>
                <a:cubicBezTo>
                  <a:pt x="23" y="401"/>
                  <a:pt x="52" y="353"/>
                  <a:pt x="87" y="310"/>
                </a:cubicBezTo>
                <a:cubicBezTo>
                  <a:pt x="94" y="301"/>
                  <a:pt x="101" y="293"/>
                  <a:pt x="108" y="284"/>
                </a:cubicBezTo>
                <a:cubicBezTo>
                  <a:pt x="116" y="275"/>
                  <a:pt x="125" y="266"/>
                  <a:pt x="133" y="258"/>
                </a:cubicBezTo>
                <a:cubicBezTo>
                  <a:pt x="248" y="143"/>
                  <a:pt x="406" y="72"/>
                  <a:pt x="581" y="72"/>
                </a:cubicBezTo>
                <a:cubicBezTo>
                  <a:pt x="872" y="72"/>
                  <a:pt x="872" y="72"/>
                  <a:pt x="872" y="72"/>
                </a:cubicBezTo>
                <a:cubicBezTo>
                  <a:pt x="872" y="0"/>
                  <a:pt x="872" y="0"/>
                  <a:pt x="872" y="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2060"/>
              </a:gs>
              <a:gs pos="14000">
                <a:srgbClr val="0070C0"/>
              </a:gs>
              <a:gs pos="100000">
                <a:srgbClr val="FCFEF3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50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it-IT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>
            <a:extLst>
              <a:ext uri="{FF2B5EF4-FFF2-40B4-BE49-F238E27FC236}">
                <a16:creationId xmlns:a16="http://schemas.microsoft.com/office/drawing/2014/main" id="{1547996D-AB4E-00B6-4415-A3FC4F28879E}"/>
              </a:ext>
            </a:extLst>
          </p:cNvPr>
          <p:cNvSpPr txBox="1"/>
          <p:nvPr/>
        </p:nvSpPr>
        <p:spPr>
          <a:xfrm>
            <a:off x="2518913" y="103516"/>
            <a:ext cx="73755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it-IT" sz="2800" b="1" i="0" u="none" strike="noStrike" cap="none" dirty="0">
                <a:solidFill>
                  <a:srgbClr val="C00000"/>
                </a:solidFill>
                <a:latin typeface="Aharoni"/>
                <a:ea typeface="Aharoni"/>
                <a:cs typeface="Aharoni"/>
                <a:sym typeface="Aharoni"/>
              </a:rPr>
              <a:t>Attività Beach Volley</a:t>
            </a:r>
            <a:endParaRPr sz="2800" b="1" i="0" u="none" strike="noStrike" cap="none" dirty="0">
              <a:solidFill>
                <a:srgbClr val="C00000"/>
              </a:solidFill>
              <a:latin typeface="Aharoni"/>
              <a:ea typeface="Aharoni"/>
              <a:cs typeface="Aharoni"/>
              <a:sym typeface="Aharon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1" i="0" u="none" strike="noStrike" cap="none" dirty="0">
              <a:solidFill>
                <a:srgbClr val="C00000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pic>
        <p:nvPicPr>
          <p:cNvPr id="2" name="image7.png" descr="Immagine che contiene Elementi grafici, clipart, disegno, grafica&#10;&#10;Il contenuto generato dall'IA potrebbe non essere corretto.">
            <a:extLst>
              <a:ext uri="{FF2B5EF4-FFF2-40B4-BE49-F238E27FC236}">
                <a16:creationId xmlns:a16="http://schemas.microsoft.com/office/drawing/2014/main" id="{5B556A49-5D17-42DB-158B-7FDE55E61198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25307" y="5773102"/>
            <a:ext cx="1290320" cy="1001395"/>
          </a:xfrm>
          <a:prstGeom prst="rect">
            <a:avLst/>
          </a:prstGeom>
          <a:ln/>
        </p:spPr>
      </p:pic>
      <p:sp>
        <p:nvSpPr>
          <p:cNvPr id="87" name="TextBox 86"/>
          <p:cNvSpPr txBox="1"/>
          <p:nvPr/>
        </p:nvSpPr>
        <p:spPr>
          <a:xfrm>
            <a:off x="410714" y="1085649"/>
            <a:ext cx="3043687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00000"/>
                </a:solidFill>
                <a:latin typeface="Aharoni"/>
              </a:rPr>
              <a:t>Tornei per Stagione</a:t>
            </a:r>
          </a:p>
        </p:txBody>
      </p:sp>
      <p:graphicFrame>
        <p:nvGraphicFramePr>
          <p:cNvPr id="88" name="Table 87"/>
          <p:cNvGraphicFramePr>
            <a:graphicFrameLocks noGrp="1"/>
          </p:cNvGraphicFramePr>
          <p:nvPr/>
        </p:nvGraphicFramePr>
        <p:xfrm>
          <a:off x="410714" y="1500000"/>
          <a:ext cx="3500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0000"/>
                <a:gridCol w="1750000"/>
              </a:tblGrid>
              <a:tr h="266666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Roboto"/>
                        </a:rPr>
                        <a:t>Stagione</a:t>
                      </a:r>
                    </a:p>
                  </a:txBody>
                  <a:tcPr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Roboto"/>
                        </a:rPr>
                        <a:t>Nr. Tornei</a:t>
                      </a:r>
                    </a:p>
                  </a:txBody>
                  <a:tcPr>
                    <a:solidFill>
                      <a:srgbClr val="356854"/>
                    </a:solidFill>
                  </a:tcPr>
                </a:tc>
              </a:tr>
              <a:tr h="266666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2018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1</a:t>
                      </a:r>
                    </a:p>
                  </a:txBody>
                  <a:tcPr/>
                </a:tc>
              </a:tr>
              <a:tr h="266666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Roboto"/>
                        </a:rPr>
                        <a:t>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Roboto"/>
                        </a:rPr>
                        <a:t>36</a:t>
                      </a:r>
                    </a:p>
                  </a:txBody>
                  <a:tcPr/>
                </a:tc>
              </a:tr>
              <a:tr h="266666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3</a:t>
                      </a:r>
                    </a:p>
                  </a:txBody>
                  <a:tcPr/>
                </a:tc>
              </a:tr>
              <a:tr h="266666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8</a:t>
                      </a:r>
                    </a:p>
                  </a:txBody>
                  <a:tcPr/>
                </a:tc>
              </a:tr>
              <a:tr h="266666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8</a:t>
                      </a:r>
                    </a:p>
                  </a:txBody>
                  <a:tcPr/>
                </a:tc>
              </a:tr>
              <a:tr h="266666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14</a:t>
                      </a:r>
                    </a:p>
                  </a:txBody>
                  <a:tcPr/>
                </a:tc>
              </a:tr>
              <a:tr h="266666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16</a:t>
                      </a:r>
                    </a:p>
                  </a:txBody>
                  <a:tcPr/>
                </a:tc>
              </a:tr>
              <a:tr h="266672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6*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9" name="TextBox 88"/>
          <p:cNvSpPr txBox="1"/>
          <p:nvPr/>
        </p:nvSpPr>
        <p:spPr>
          <a:xfrm>
            <a:off x="410714" y="3950000"/>
            <a:ext cx="3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Calibri"/>
              </a:rPr>
              <a:t>* stagione in corso | Record: 36 tornei nel 2019 (pre-COVID)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300000" y="1085649"/>
            <a:ext cx="4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00000"/>
                </a:solidFill>
                <a:latin typeface="Aharoni"/>
              </a:rPr>
              <a:t>Top Arbitri per Designazioni</a:t>
            </a:r>
          </a:p>
        </p:txBody>
      </p:sp>
      <p:graphicFrame>
        <p:nvGraphicFramePr>
          <p:cNvPr id="91" name="Table 90"/>
          <p:cNvGraphicFramePr>
            <a:graphicFrameLocks noGrp="1"/>
          </p:cNvGraphicFramePr>
          <p:nvPr/>
        </p:nvGraphicFramePr>
        <p:xfrm>
          <a:off x="4300000" y="1500000"/>
          <a:ext cx="7200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0"/>
                <a:gridCol w="1800000"/>
                <a:gridCol w="1800000"/>
                <a:gridCol w="1800000"/>
              </a:tblGrid>
              <a:tr h="25714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Roboto"/>
                        </a:rPr>
                        <a:t>Arbitro</a:t>
                      </a:r>
                    </a:p>
                  </a:txBody>
                  <a:tcPr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Roboto"/>
                        </a:rPr>
                        <a:t>Età</a:t>
                      </a:r>
                    </a:p>
                  </a:txBody>
                  <a:tcPr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Roboto"/>
                        </a:rPr>
                        <a:t>Comitato</a:t>
                      </a:r>
                    </a:p>
                  </a:txBody>
                  <a:tcPr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Roboto"/>
                        </a:rPr>
                        <a:t>Tornei</a:t>
                      </a:r>
                    </a:p>
                  </a:txBody>
                  <a:tcPr>
                    <a:solidFill>
                      <a:srgbClr val="356854"/>
                    </a:solidFill>
                  </a:tcPr>
                </a:tc>
              </a:tr>
              <a:tr h="25714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Marchetti Marco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Romagna Uno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Roboto"/>
                        </a:rPr>
                        <a:t>37</a:t>
                      </a:r>
                    </a:p>
                  </a:txBody>
                  <a:tcPr/>
                </a:tc>
              </a:tr>
              <a:tr h="25714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Rosati Andrea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Romagna Uno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Roboto"/>
                        </a:rPr>
                        <a:t>32</a:t>
                      </a:r>
                    </a:p>
                  </a:txBody>
                  <a:tcPr/>
                </a:tc>
              </a:tr>
              <a:tr h="25714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Tramontano Ciro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Romagna Uno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Roboto"/>
                        </a:rPr>
                        <a:t>29</a:t>
                      </a:r>
                    </a:p>
                  </a:txBody>
                  <a:tcPr/>
                </a:tc>
              </a:tr>
              <a:tr h="25714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Brunelli Andrea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Ravenna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Roboto"/>
                        </a:rPr>
                        <a:t>26</a:t>
                      </a:r>
                    </a:p>
                  </a:txBody>
                  <a:tcPr/>
                </a:tc>
              </a:tr>
              <a:tr h="25714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Drei Marco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Bologna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Roboto"/>
                        </a:rPr>
                        <a:t>26</a:t>
                      </a:r>
                    </a:p>
                  </a:txBody>
                  <a:tcPr/>
                </a:tc>
              </a:tr>
              <a:tr h="25714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Greco Luigi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Romagna Uno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Roboto"/>
                        </a:rPr>
                        <a:t>25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2" name="TextBox 91"/>
          <p:cNvSpPr txBox="1"/>
          <p:nvPr/>
        </p:nvSpPr>
        <p:spPr>
          <a:xfrm>
            <a:off x="4300000" y="35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00000"/>
                </a:solidFill>
                <a:latin typeface="Aharoni"/>
              </a:rPr>
              <a:t>Candidati Promozione (≥10 tornei &amp; &lt;30 anni)</a:t>
            </a:r>
          </a:p>
        </p:txBody>
      </p:sp>
      <p:graphicFrame>
        <p:nvGraphicFramePr>
          <p:cNvPr id="93" name="Table 92"/>
          <p:cNvGraphicFramePr>
            <a:graphicFrameLocks noGrp="1"/>
          </p:cNvGraphicFramePr>
          <p:nvPr/>
        </p:nvGraphicFramePr>
        <p:xfrm>
          <a:off x="4300000" y="3950000"/>
          <a:ext cx="5500000" cy="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3333"/>
                <a:gridCol w="1833333"/>
                <a:gridCol w="1833334"/>
              </a:tblGrid>
              <a:tr h="266666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Roboto"/>
                        </a:rPr>
                        <a:t>Arbitro</a:t>
                      </a:r>
                    </a:p>
                  </a:txBody>
                  <a:tcPr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Roboto"/>
                        </a:rPr>
                        <a:t>Età</a:t>
                      </a:r>
                    </a:p>
                  </a:txBody>
                  <a:tcPr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Roboto"/>
                        </a:rPr>
                        <a:t>Tornei</a:t>
                      </a:r>
                    </a:p>
                  </a:txBody>
                  <a:tcPr>
                    <a:solidFill>
                      <a:srgbClr val="356854"/>
                    </a:solidFill>
                  </a:tcPr>
                </a:tc>
              </a:tr>
              <a:tr h="266666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Avanzolini Alberto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Roboto"/>
                        </a:rPr>
                        <a:t>15</a:t>
                      </a:r>
                    </a:p>
                  </a:txBody>
                  <a:tcPr/>
                </a:tc>
              </a:tr>
              <a:tr h="26666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Carota Giacomo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Roboto"/>
                        </a:rPr>
                        <a:t>10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34975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2D4F3170-18D5-4243-DD47-01E54BC08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>
            <a:extLst>
              <a:ext uri="{FF2B5EF4-FFF2-40B4-BE49-F238E27FC236}">
                <a16:creationId xmlns:a16="http://schemas.microsoft.com/office/drawing/2014/main" id="{18E83DE4-AFE9-8893-9A70-9DBEC7037907}"/>
              </a:ext>
            </a:extLst>
          </p:cNvPr>
          <p:cNvSpPr/>
          <p:nvPr/>
        </p:nvSpPr>
        <p:spPr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>
            <a:extLst>
              <a:ext uri="{FF2B5EF4-FFF2-40B4-BE49-F238E27FC236}">
                <a16:creationId xmlns:a16="http://schemas.microsoft.com/office/drawing/2014/main" id="{5B060F00-8E26-E33F-1A1A-9CFD6A47B782}"/>
              </a:ext>
            </a:extLst>
          </p:cNvPr>
          <p:cNvSpPr/>
          <p:nvPr/>
        </p:nvSpPr>
        <p:spPr>
          <a:xfrm rot="-5400000">
            <a:off x="-2250757" y="2250757"/>
            <a:ext cx="6858000" cy="2356485"/>
          </a:xfrm>
          <a:custGeom>
            <a:avLst/>
            <a:gdLst/>
            <a:ahLst/>
            <a:cxnLst/>
            <a:rect l="l" t="t" r="r" b="b"/>
            <a:pathLst>
              <a:path w="872" h="453" extrusionOk="0">
                <a:moveTo>
                  <a:pt x="0" y="0"/>
                </a:moveTo>
                <a:cubicBezTo>
                  <a:pt x="0" y="453"/>
                  <a:pt x="0" y="453"/>
                  <a:pt x="0" y="453"/>
                </a:cubicBezTo>
                <a:cubicBezTo>
                  <a:pt x="23" y="401"/>
                  <a:pt x="52" y="353"/>
                  <a:pt x="87" y="310"/>
                </a:cubicBezTo>
                <a:cubicBezTo>
                  <a:pt x="94" y="301"/>
                  <a:pt x="101" y="293"/>
                  <a:pt x="108" y="284"/>
                </a:cubicBezTo>
                <a:cubicBezTo>
                  <a:pt x="116" y="275"/>
                  <a:pt x="125" y="266"/>
                  <a:pt x="133" y="258"/>
                </a:cubicBezTo>
                <a:cubicBezTo>
                  <a:pt x="248" y="143"/>
                  <a:pt x="406" y="72"/>
                  <a:pt x="581" y="72"/>
                </a:cubicBezTo>
                <a:cubicBezTo>
                  <a:pt x="872" y="72"/>
                  <a:pt x="872" y="72"/>
                  <a:pt x="872" y="72"/>
                </a:cubicBezTo>
                <a:cubicBezTo>
                  <a:pt x="872" y="0"/>
                  <a:pt x="872" y="0"/>
                  <a:pt x="872" y="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2060"/>
              </a:gs>
              <a:gs pos="14000">
                <a:srgbClr val="0070C0"/>
              </a:gs>
              <a:gs pos="100000">
                <a:srgbClr val="FCFEF3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50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it-IT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>
            <a:extLst>
              <a:ext uri="{FF2B5EF4-FFF2-40B4-BE49-F238E27FC236}">
                <a16:creationId xmlns:a16="http://schemas.microsoft.com/office/drawing/2014/main" id="{D7E55BCC-83F2-2000-A232-42AC28F1B5E0}"/>
              </a:ext>
            </a:extLst>
          </p:cNvPr>
          <p:cNvSpPr txBox="1"/>
          <p:nvPr/>
        </p:nvSpPr>
        <p:spPr>
          <a:xfrm>
            <a:off x="2518913" y="103516"/>
            <a:ext cx="73755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it-IT" sz="2800" b="1" i="0" u="none" strike="noStrike" cap="none" dirty="0">
                <a:solidFill>
                  <a:srgbClr val="C00000"/>
                </a:solidFill>
                <a:latin typeface="Aharoni"/>
                <a:ea typeface="Aharoni"/>
                <a:cs typeface="Aharoni"/>
                <a:sym typeface="Aharoni"/>
              </a:rPr>
              <a:t>Criticità e Opportunità</a:t>
            </a:r>
            <a:endParaRPr sz="2800" b="1" i="0" u="none" strike="noStrike" cap="none" dirty="0">
              <a:solidFill>
                <a:srgbClr val="C00000"/>
              </a:solidFill>
              <a:latin typeface="Aharoni"/>
              <a:ea typeface="Aharoni"/>
              <a:cs typeface="Aharoni"/>
              <a:sym typeface="Aharon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1" i="0" u="none" strike="noStrike" cap="none" dirty="0">
              <a:solidFill>
                <a:srgbClr val="C00000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pic>
        <p:nvPicPr>
          <p:cNvPr id="2" name="image7.png" descr="Immagine che contiene Elementi grafici, clipart, disegno, grafica&#10;&#10;Il contenuto generato dall'IA potrebbe non essere corretto.">
            <a:extLst>
              <a:ext uri="{FF2B5EF4-FFF2-40B4-BE49-F238E27FC236}">
                <a16:creationId xmlns:a16="http://schemas.microsoft.com/office/drawing/2014/main" id="{2087AA31-C39A-68CB-F9D0-4E6D4EADD6F8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25307" y="5773102"/>
            <a:ext cx="1290320" cy="1001395"/>
          </a:xfrm>
          <a:prstGeom prst="rect">
            <a:avLst/>
          </a:prstGeom>
          <a:ln/>
        </p:spPr>
      </p:pic>
      <p:sp>
        <p:nvSpPr>
          <p:cNvPr id="87" name="TextBox 86"/>
          <p:cNvSpPr txBox="1"/>
          <p:nvPr/>
        </p:nvSpPr>
        <p:spPr>
          <a:xfrm>
            <a:off x="410714" y="1085649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00000"/>
                </a:solidFill>
                <a:latin typeface="Aharoni"/>
              </a:rPr>
              <a:t>Criticità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10714" y="1500000"/>
            <a:ext cx="550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22 arbitri su 65 (34%) mai designati per il beach volley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5 arbitri in attesa di rinnovo tesseramento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Concentrazione su Romagna Uno: 18 arbitri (28% dell'organico)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Solo 25 arbitri attivi su 65 in organico (38%)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10714" y="34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00000"/>
                </a:solidFill>
                <a:latin typeface="Aharoni"/>
              </a:rPr>
              <a:t>Opportunità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10714" y="3850000"/>
            <a:ext cx="1050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Coinvolgere comitati con pochi arbitri beach: Ferrara (2), Piacenza (3), Reggio Emilia (3)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Attivare i 22 arbitri mai designati tramite formazione e affiancamento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Trend positivo post-COVID: da 3 tornei (2020) a 16 (2024)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Giovani promettenti: Avanzolini (27 anni, 15 tornei), Carota (19 anni, 10 tornei)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000000" y="1085649"/>
            <a:ext cx="4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00000"/>
                </a:solidFill>
                <a:latin typeface="Aharoni"/>
              </a:rPr>
              <a:t>Comitati da Potenziare</a:t>
            </a:r>
          </a:p>
        </p:txBody>
      </p:sp>
      <p:graphicFrame>
        <p:nvGraphicFramePr>
          <p:cNvPr id="92" name="Table 91"/>
          <p:cNvGraphicFramePr>
            <a:graphicFrameLocks noGrp="1"/>
          </p:cNvGraphicFramePr>
          <p:nvPr/>
        </p:nvGraphicFramePr>
        <p:xfrm>
          <a:off x="7000000" y="1500000"/>
          <a:ext cx="4200000" cy="15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0000"/>
                <a:gridCol w="2100000"/>
              </a:tblGrid>
              <a:tr h="3000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Roboto"/>
                        </a:rPr>
                        <a:t>Comitato</a:t>
                      </a:r>
                    </a:p>
                  </a:txBody>
                  <a:tcPr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Roboto"/>
                        </a:rPr>
                        <a:t>Arbitri Beach</a:t>
                      </a:r>
                    </a:p>
                  </a:txBody>
                  <a:tcPr>
                    <a:solidFill>
                      <a:srgbClr val="356854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Ferrara</a:t>
                      </a:r>
                    </a:p>
                  </a:txBody>
                  <a:tcPr>
                    <a:solidFill>
                      <a:srgbClr val="FF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Roboto"/>
                        </a:rPr>
                        <a:t>2</a:t>
                      </a:r>
                    </a:p>
                  </a:txBody>
                  <a:tcPr>
                    <a:solidFill>
                      <a:srgbClr val="FFD9D9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Piacenza</a:t>
                      </a:r>
                    </a:p>
                  </a:txBody>
                  <a:tcPr>
                    <a:solidFill>
                      <a:srgbClr val="FF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Roboto"/>
                        </a:rPr>
                        <a:t>3</a:t>
                      </a:r>
                    </a:p>
                  </a:txBody>
                  <a:tcPr>
                    <a:solidFill>
                      <a:srgbClr val="FFD9D9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Reggio Emilia</a:t>
                      </a:r>
                    </a:p>
                  </a:txBody>
                  <a:tcPr>
                    <a:solidFill>
                      <a:srgbClr val="FF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Roboto"/>
                        </a:rPr>
                        <a:t>3</a:t>
                      </a:r>
                    </a:p>
                  </a:txBody>
                  <a:tcPr>
                    <a:solidFill>
                      <a:srgbClr val="FFD9D9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Roboto"/>
                        </a:rPr>
                        <a:t>Parma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Roboto"/>
                        </a:rPr>
                        <a:t>5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2158320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84" name="Google Shape;84;p1"/>
          <p:cNvSpPr/>
          <p:nvPr/>
        </p:nvSpPr>
        <p:spPr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/>
          <p:nvPr/>
        </p:nvSpPr>
        <p:spPr>
          <a:xfrm rot="-5400000">
            <a:off x="-2250757" y="2250757"/>
            <a:ext cx="6858000" cy="2356485"/>
          </a:xfrm>
          <a:custGeom>
            <a:avLst/>
            <a:gdLst/>
            <a:ahLst/>
            <a:cxnLst/>
            <a:rect l="l" t="t" r="r" b="b"/>
            <a:pathLst>
              <a:path w="872" h="453" extrusionOk="0">
                <a:moveTo>
                  <a:pt x="0" y="0"/>
                </a:moveTo>
                <a:cubicBezTo>
                  <a:pt x="0" y="453"/>
                  <a:pt x="0" y="453"/>
                  <a:pt x="0" y="453"/>
                </a:cubicBezTo>
                <a:cubicBezTo>
                  <a:pt x="23" y="401"/>
                  <a:pt x="52" y="353"/>
                  <a:pt x="87" y="310"/>
                </a:cubicBezTo>
                <a:cubicBezTo>
                  <a:pt x="94" y="301"/>
                  <a:pt x="101" y="293"/>
                  <a:pt x="108" y="284"/>
                </a:cubicBezTo>
                <a:cubicBezTo>
                  <a:pt x="116" y="275"/>
                  <a:pt x="125" y="266"/>
                  <a:pt x="133" y="258"/>
                </a:cubicBezTo>
                <a:cubicBezTo>
                  <a:pt x="248" y="143"/>
                  <a:pt x="406" y="72"/>
                  <a:pt x="581" y="72"/>
                </a:cubicBezTo>
                <a:cubicBezTo>
                  <a:pt x="872" y="72"/>
                  <a:pt x="872" y="72"/>
                  <a:pt x="872" y="72"/>
                </a:cubicBezTo>
                <a:cubicBezTo>
                  <a:pt x="872" y="0"/>
                  <a:pt x="872" y="0"/>
                  <a:pt x="872" y="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2060"/>
              </a:gs>
              <a:gs pos="14000">
                <a:srgbClr val="0070C0"/>
              </a:gs>
              <a:gs pos="100000">
                <a:srgbClr val="FCFEF3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50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it-IT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image7.png" descr="Immagine che contiene Elementi grafici, clipart, disegno, grafica&#10;&#10;Il contenuto generato dall'IA potrebbe non essere corretto.">
            <a:extLst>
              <a:ext uri="{FF2B5EF4-FFF2-40B4-BE49-F238E27FC236}">
                <a16:creationId xmlns:a16="http://schemas.microsoft.com/office/drawing/2014/main" id="{FC181C04-593B-7B01-C39B-EEC525EDDB63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25307" y="5773102"/>
            <a:ext cx="1290320" cy="1001395"/>
          </a:xfrm>
          <a:prstGeom prst="rect">
            <a:avLst/>
          </a:prstGeom>
          <a:ln/>
        </p:spPr>
      </p:pic>
      <p:sp>
        <p:nvSpPr>
          <p:cNvPr id="86" name="Google Shape;86;p1"/>
          <p:cNvSpPr txBox="1"/>
          <p:nvPr/>
        </p:nvSpPr>
        <p:spPr>
          <a:xfrm>
            <a:off x="2518913" y="103516"/>
            <a:ext cx="7375500" cy="95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C00000"/>
                </a:solidFill>
                <a:latin typeface="Aharoni"/>
              </a:rPr>
              <a:t>Corso Arbitri Beach Volley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10714" y="12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00000"/>
                </a:solidFill>
                <a:latin typeface="Aharoni"/>
              </a:rPr>
              <a:t>Dettagli del Corso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10714" y="1700000"/>
            <a:ext cx="6000000" cy="2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666666"/>
                </a:solidFill>
                <a:latin typeface="Calibri"/>
              </a:rPr>
              <a:t>• Date: in fase di definizione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666666"/>
                </a:solidFill>
                <a:latin typeface="Calibri"/>
              </a:rPr>
              <a:t>• Sede: in fase di definizione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666666"/>
                </a:solidFill>
                <a:latin typeface="Calibri"/>
              </a:rPr>
              <a:t>• Programma: in fase di definizione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666666"/>
                </a:solidFill>
                <a:latin typeface="Calibri"/>
              </a:rPr>
              <a:t>• Docenti: in fase di definizione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666666"/>
                </a:solidFill>
                <a:latin typeface="Calibri"/>
              </a:rPr>
              <a:t>• Destinatari: in fase di definizione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000000" y="4500000"/>
            <a:ext cx="6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C00000"/>
                </a:solidFill>
                <a:latin typeface="Calibri"/>
              </a:rPr>
              <a:t>⚠ In fase di definizione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84" name="Google Shape;84;p1"/>
          <p:cNvSpPr/>
          <p:nvPr/>
        </p:nvSpPr>
        <p:spPr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/>
          <p:nvPr/>
        </p:nvSpPr>
        <p:spPr>
          <a:xfrm rot="-5400000">
            <a:off x="-2250757" y="2250757"/>
            <a:ext cx="6858000" cy="2356485"/>
          </a:xfrm>
          <a:custGeom>
            <a:avLst/>
            <a:gdLst/>
            <a:ahLst/>
            <a:cxnLst/>
            <a:rect l="l" t="t" r="r" b="b"/>
            <a:pathLst>
              <a:path w="872" h="453" extrusionOk="0">
                <a:moveTo>
                  <a:pt x="0" y="0"/>
                </a:moveTo>
                <a:cubicBezTo>
                  <a:pt x="0" y="453"/>
                  <a:pt x="0" y="453"/>
                  <a:pt x="0" y="453"/>
                </a:cubicBezTo>
                <a:cubicBezTo>
                  <a:pt x="23" y="401"/>
                  <a:pt x="52" y="353"/>
                  <a:pt x="87" y="310"/>
                </a:cubicBezTo>
                <a:cubicBezTo>
                  <a:pt x="94" y="301"/>
                  <a:pt x="101" y="293"/>
                  <a:pt x="108" y="284"/>
                </a:cubicBezTo>
                <a:cubicBezTo>
                  <a:pt x="116" y="275"/>
                  <a:pt x="125" y="266"/>
                  <a:pt x="133" y="258"/>
                </a:cubicBezTo>
                <a:cubicBezTo>
                  <a:pt x="248" y="143"/>
                  <a:pt x="406" y="72"/>
                  <a:pt x="581" y="72"/>
                </a:cubicBezTo>
                <a:cubicBezTo>
                  <a:pt x="872" y="72"/>
                  <a:pt x="872" y="72"/>
                  <a:pt x="872" y="72"/>
                </a:cubicBezTo>
                <a:cubicBezTo>
                  <a:pt x="872" y="0"/>
                  <a:pt x="872" y="0"/>
                  <a:pt x="872" y="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2060"/>
              </a:gs>
              <a:gs pos="14000">
                <a:srgbClr val="0070C0"/>
              </a:gs>
              <a:gs pos="100000">
                <a:srgbClr val="FCFEF3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50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it-IT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image7.png" descr="Immagine che contiene Elementi grafici, clipart, disegno, grafica&#10;&#10;Il contenuto generato dall'IA potrebbe non essere corretto.">
            <a:extLst>
              <a:ext uri="{FF2B5EF4-FFF2-40B4-BE49-F238E27FC236}">
                <a16:creationId xmlns:a16="http://schemas.microsoft.com/office/drawing/2014/main" id="{FC181C04-593B-7B01-C39B-EEC525EDDB63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25307" y="5773102"/>
            <a:ext cx="1290320" cy="1001395"/>
          </a:xfrm>
          <a:prstGeom prst="rect">
            <a:avLst/>
          </a:prstGeom>
          <a:ln/>
        </p:spPr>
      </p:pic>
      <p:sp>
        <p:nvSpPr>
          <p:cNvPr id="86" name="Google Shape;86;p1"/>
          <p:cNvSpPr txBox="1"/>
          <p:nvPr/>
        </p:nvSpPr>
        <p:spPr>
          <a:xfrm>
            <a:off x="2518913" y="103516"/>
            <a:ext cx="7375500" cy="95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C00000"/>
                </a:solidFill>
                <a:latin typeface="Aharoni"/>
              </a:rPr>
              <a:t>Titolo presentazione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565</Words>
  <Application>Microsoft Office PowerPoint</Application>
  <PresentationFormat>Widescreen</PresentationFormat>
  <Paragraphs>252</Paragraphs>
  <Slides>7</Slides>
  <Notes>7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13" baseType="lpstr">
      <vt:lpstr>Arial</vt:lpstr>
      <vt:lpstr>Roboto</vt:lpstr>
      <vt:lpstr>Calibri</vt:lpstr>
      <vt:lpstr>Play</vt:lpstr>
      <vt:lpstr>Aharoni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Natasha Tecla Santoro</dc:creator>
  <cp:lastModifiedBy>Natasha Tecla Santoro</cp:lastModifiedBy>
  <cp:revision>1</cp:revision>
  <dcterms:created xsi:type="dcterms:W3CDTF">2025-09-09T08:41:21Z</dcterms:created>
  <dcterms:modified xsi:type="dcterms:W3CDTF">2026-02-12T16:44:21Z</dcterms:modified>
</cp:coreProperties>
</file>
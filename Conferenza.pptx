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</p:sldIdLst>
  <p:sldSz cx="12192000" cy="6858000"/>
  <p:notesSz cx="6858000" cy="9144000"/>
  <p:embeddedFontLst>
    <p:embeddedFont>
      <p:font typeface="Aharoni" panose="02010803020104030203" pitchFamily="2" charset="-79"/>
      <p:bold r:id="rId10"/>
    </p:embeddedFont>
    <p:embeddedFont>
      <p:font typeface="Play" panose="020B0604020202020204" charset="0"/>
      <p:regular r:id="rId11"/>
      <p:bold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OnG3QAiK9uOY1UGkg2o75pjUH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3C00AF2-ADBC-BEC5-4596-86D7083C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2A45E955-57A4-9B17-6D63-62085A46B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275FA68-6075-411A-54D6-880683B8E0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2376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B941278-449C-D810-0E8D-06B2725F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3C1DEC3-2074-6AD1-575F-F3DADF59F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CE684A5-6C3C-E956-2625-1F6E59FF5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4582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5595B3E-6484-0C76-EB45-0A7A185D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5754258-CD51-5F77-58EA-0930880BB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E8A088F-E7C9-3AF9-D297-09A462628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3725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E64C3D7-70F3-200C-72D3-F026622A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DE4EC88-47EC-2563-A326-7301A4AF6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F94A071-887E-7938-60A6-05AF8EF12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66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A0D453D-09C3-672C-53C4-301EA30E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CECD2C1-8160-318F-7C7B-AB4107A95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5D7C31C-AA06-61D8-CDE5-93AC1F468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239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0E8D5A0-3C35-8D5B-09F0-11328445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1AB4C2C-8407-A0B6-8BEE-32764D42B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6051FC1-0900-3C0A-E7DC-2975691F2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1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10714" y="1085649"/>
            <a:ext cx="304368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Docenti in ER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FC181C04-593B-7B01-C39B-EEC525EDDB6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4CA105FD-F82C-E750-EF01-7C1896E8F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847393"/>
              </p:ext>
            </p:extLst>
          </p:nvPr>
        </p:nvGraphicFramePr>
        <p:xfrm>
          <a:off x="3259667" y="143933"/>
          <a:ext cx="4319481" cy="2489200"/>
        </p:xfrm>
        <a:graphic>
          <a:graphicData uri="http://schemas.openxmlformats.org/drawingml/2006/table">
            <a:tbl>
              <a:tblPr/>
              <a:tblGrid>
                <a:gridCol w="572039">
                  <a:extLst>
                    <a:ext uri="{9D8B030D-6E8A-4147-A177-3AD203B41FA5}">
                      <a16:colId xmlns:a16="http://schemas.microsoft.com/office/drawing/2014/main" val="3864942382"/>
                    </a:ext>
                  </a:extLst>
                </a:gridCol>
                <a:gridCol w="980639">
                  <a:extLst>
                    <a:ext uri="{9D8B030D-6E8A-4147-A177-3AD203B41FA5}">
                      <a16:colId xmlns:a16="http://schemas.microsoft.com/office/drawing/2014/main" val="4052389779"/>
                    </a:ext>
                  </a:extLst>
                </a:gridCol>
                <a:gridCol w="957291">
                  <a:extLst>
                    <a:ext uri="{9D8B030D-6E8A-4147-A177-3AD203B41FA5}">
                      <a16:colId xmlns:a16="http://schemas.microsoft.com/office/drawing/2014/main" val="1145569323"/>
                    </a:ext>
                  </a:extLst>
                </a:gridCol>
                <a:gridCol w="980639">
                  <a:extLst>
                    <a:ext uri="{9D8B030D-6E8A-4147-A177-3AD203B41FA5}">
                      <a16:colId xmlns:a16="http://schemas.microsoft.com/office/drawing/2014/main" val="1566570486"/>
                    </a:ext>
                  </a:extLst>
                </a:gridCol>
                <a:gridCol w="828873">
                  <a:extLst>
                    <a:ext uri="{9D8B030D-6E8A-4147-A177-3AD203B41FA5}">
                      <a16:colId xmlns:a16="http://schemas.microsoft.com/office/drawing/2014/main" val="238507101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 dirty="0">
                          <a:effectLst/>
                        </a:rPr>
                        <a:t>CT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>
                          <a:effectLst/>
                        </a:rPr>
                        <a:t>Nr. Docenti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 dirty="0">
                          <a:effectLst/>
                          <a:latin typeface="Arial" panose="020B0604020202020204" pitchFamily="34" charset="0"/>
                        </a:rPr>
                        <a:t>Variazioni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>
                          <a:effectLst/>
                          <a:latin typeface="Arial" panose="020B0604020202020204" pitchFamily="34" charset="0"/>
                        </a:rPr>
                        <a:t>Organico a ruolo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>
                          <a:effectLst/>
                          <a:latin typeface="Arial" panose="020B0604020202020204" pitchFamily="34" charset="0"/>
                        </a:rPr>
                        <a:t>Organico Attivo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438775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BO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4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224542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FE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023816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MO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520240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PC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2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2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040579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PR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695829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R1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7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288757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RA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169157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RE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334668"/>
                  </a:ext>
                </a:extLst>
              </a:tr>
              <a:tr h="2962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b="1">
                          <a:effectLst/>
                          <a:latin typeface="Arial" panose="020B0604020202020204" pitchFamily="34" charset="0"/>
                        </a:rPr>
                        <a:t>Totale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effectLst/>
                        </a:rPr>
                        <a:t>26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effectLst/>
                        </a:rPr>
                        <a:t>26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 dirty="0">
                          <a:effectLst/>
                        </a:rPr>
                        <a:t>23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980697"/>
                  </a:ext>
                </a:extLst>
              </a:tr>
            </a:tbl>
          </a:graphicData>
        </a:graphic>
      </p:graphicFrame>
      <p:sp>
        <p:nvSpPr>
          <p:cNvPr id="4" name="Google Shape;86;p1">
            <a:extLst>
              <a:ext uri="{FF2B5EF4-FFF2-40B4-BE49-F238E27FC236}">
                <a16:creationId xmlns:a16="http://schemas.microsoft.com/office/drawing/2014/main" id="{D68215E2-E3C2-CE60-59A3-182842B48012}"/>
              </a:ext>
            </a:extLst>
          </p:cNvPr>
          <p:cNvSpPr txBox="1"/>
          <p:nvPr/>
        </p:nvSpPr>
        <p:spPr>
          <a:xfrm>
            <a:off x="495381" y="3262334"/>
            <a:ext cx="304368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Designazioni Gestiste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EAEB7D1-52D1-FE44-C374-5063DE363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376268"/>
              </p:ext>
            </p:extLst>
          </p:nvPr>
        </p:nvGraphicFramePr>
        <p:xfrm>
          <a:off x="3454401" y="2833728"/>
          <a:ext cx="7103532" cy="3413760"/>
        </p:xfrm>
        <a:graphic>
          <a:graphicData uri="http://schemas.openxmlformats.org/drawingml/2006/table">
            <a:tbl>
              <a:tblPr/>
              <a:tblGrid>
                <a:gridCol w="1760220">
                  <a:extLst>
                    <a:ext uri="{9D8B030D-6E8A-4147-A177-3AD203B41FA5}">
                      <a16:colId xmlns:a16="http://schemas.microsoft.com/office/drawing/2014/main" val="32626034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228507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220807765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15100711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62600716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14555752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11607031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4033377877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3076924117"/>
                    </a:ext>
                  </a:extLst>
                </a:gridCol>
                <a:gridCol w="916092">
                  <a:extLst>
                    <a:ext uri="{9D8B030D-6E8A-4147-A177-3AD203B41FA5}">
                      <a16:colId xmlns:a16="http://schemas.microsoft.com/office/drawing/2014/main" val="184795146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Corso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FE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PA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PC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R1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TOTALE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5474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Aggiornamento Arbitri Associati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8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659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Allenatori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1028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Arbitri Associati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86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Arbitri Indoor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16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19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111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1005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Arbitri Indoor PROG. PCTO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7325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Segnapunti Associati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8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58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1230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Raduno Precampionato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9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9817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Raduno Recupero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0997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RTP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0989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Totale generale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26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50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16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29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243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1461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4B334C6-9262-6B13-C370-ADA157DE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9600DA05-87A8-6AF8-BA76-9A013F30A0CD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018802EF-ECAF-7BB3-52FB-AF761546D887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32FFABC1-782B-C322-D874-6151EF9D550D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Confronto tra due anni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1FD156BA-F573-707E-FF12-B7C28C060B4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pic>
        <p:nvPicPr>
          <p:cNvPr id="6" name="Immagine 5" descr="Immagine che contiene testo, schermata, numero, linea&#10;&#10;Il contenuto generato dall'IA potrebbe non essere corretto.">
            <a:extLst>
              <a:ext uri="{FF2B5EF4-FFF2-40B4-BE49-F238E27FC236}">
                <a16:creationId xmlns:a16="http://schemas.microsoft.com/office/drawing/2014/main" id="{009BF236-4095-866D-670F-AEA76B323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73" y="750469"/>
            <a:ext cx="11453853" cy="230906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FE11960-81C7-A26D-F798-588F1E93B6B6}"/>
              </a:ext>
            </a:extLst>
          </p:cNvPr>
          <p:cNvSpPr txBox="1"/>
          <p:nvPr/>
        </p:nvSpPr>
        <p:spPr>
          <a:xfrm>
            <a:off x="1178243" y="3059529"/>
            <a:ext cx="1079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* Si precisa che in alcuni caso il calo del nr. di lezione può dipendere dall’attivazione o no di un doppio corso arbitri indoor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29BF009-57DD-1C04-0FD6-EA3F83CDF193}"/>
              </a:ext>
            </a:extLst>
          </p:cNvPr>
          <p:cNvSpPr txBox="1"/>
          <p:nvPr/>
        </p:nvSpPr>
        <p:spPr>
          <a:xfrm>
            <a:off x="1415627" y="3631485"/>
            <a:ext cx="828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Per poter gestire le esigenze dei singoli territori, laddove la guida pratica ai corsi lo permette, </a:t>
            </a:r>
          </a:p>
          <a:p>
            <a:r>
              <a:rPr lang="it-IT" b="1" dirty="0"/>
              <a:t>è stato utilizzato un UG di ruolo Nazionale.</a:t>
            </a:r>
          </a:p>
        </p:txBody>
      </p:sp>
    </p:spTree>
    <p:extLst>
      <p:ext uri="{BB962C8B-B14F-4D97-AF65-F5344CB8AC3E}">
        <p14:creationId xmlns:p14="http://schemas.microsoft.com/office/powerpoint/2010/main" val="329851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8C48737C-35E2-9458-A15F-A350A74E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C3631F0C-86BD-DB2E-B509-1B75330F9ECF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9A9FE2FE-145D-8A94-DAA6-51CBB18F674C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38750322-CA73-4AC9-EE32-384A25FD5308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Corsi Arbitri Indoor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6A453D4A-99D9-D57D-B104-2292D91C827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6574BFD4-1AC5-7429-0509-DE8B52A68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955192"/>
              </p:ext>
            </p:extLst>
          </p:nvPr>
        </p:nvGraphicFramePr>
        <p:xfrm>
          <a:off x="1684867" y="1057816"/>
          <a:ext cx="9753601" cy="5096924"/>
        </p:xfrm>
        <a:graphic>
          <a:graphicData uri="http://schemas.openxmlformats.org/drawingml/2006/table">
            <a:tbl>
              <a:tblPr/>
              <a:tblGrid>
                <a:gridCol w="1173002">
                  <a:extLst>
                    <a:ext uri="{9D8B030D-6E8A-4147-A177-3AD203B41FA5}">
                      <a16:colId xmlns:a16="http://schemas.microsoft.com/office/drawing/2014/main" val="1039163556"/>
                    </a:ext>
                  </a:extLst>
                </a:gridCol>
                <a:gridCol w="2153372">
                  <a:extLst>
                    <a:ext uri="{9D8B030D-6E8A-4147-A177-3AD203B41FA5}">
                      <a16:colId xmlns:a16="http://schemas.microsoft.com/office/drawing/2014/main" val="3729710006"/>
                    </a:ext>
                  </a:extLst>
                </a:gridCol>
                <a:gridCol w="394655">
                  <a:extLst>
                    <a:ext uri="{9D8B030D-6E8A-4147-A177-3AD203B41FA5}">
                      <a16:colId xmlns:a16="http://schemas.microsoft.com/office/drawing/2014/main" val="3624687704"/>
                    </a:ext>
                  </a:extLst>
                </a:gridCol>
                <a:gridCol w="1005824">
                  <a:extLst>
                    <a:ext uri="{9D8B030D-6E8A-4147-A177-3AD203B41FA5}">
                      <a16:colId xmlns:a16="http://schemas.microsoft.com/office/drawing/2014/main" val="654004502"/>
                    </a:ext>
                  </a:extLst>
                </a:gridCol>
                <a:gridCol w="2898435">
                  <a:extLst>
                    <a:ext uri="{9D8B030D-6E8A-4147-A177-3AD203B41FA5}">
                      <a16:colId xmlns:a16="http://schemas.microsoft.com/office/drawing/2014/main" val="690807941"/>
                    </a:ext>
                  </a:extLst>
                </a:gridCol>
                <a:gridCol w="387607">
                  <a:extLst>
                    <a:ext uri="{9D8B030D-6E8A-4147-A177-3AD203B41FA5}">
                      <a16:colId xmlns:a16="http://schemas.microsoft.com/office/drawing/2014/main" val="2722345653"/>
                    </a:ext>
                  </a:extLst>
                </a:gridCol>
                <a:gridCol w="704739">
                  <a:extLst>
                    <a:ext uri="{9D8B030D-6E8A-4147-A177-3AD203B41FA5}">
                      <a16:colId xmlns:a16="http://schemas.microsoft.com/office/drawing/2014/main" val="1122918766"/>
                    </a:ext>
                  </a:extLst>
                </a:gridCol>
                <a:gridCol w="1035967">
                  <a:extLst>
                    <a:ext uri="{9D8B030D-6E8A-4147-A177-3AD203B41FA5}">
                      <a16:colId xmlns:a16="http://schemas.microsoft.com/office/drawing/2014/main" val="4051526910"/>
                    </a:ext>
                  </a:extLst>
                </a:gridCol>
              </a:tblGrid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PIACENZA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Formula Week-End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Parma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Parma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Scuole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949977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Prandini Giancarla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Lombardi Corrado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Clemente Andrea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896043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Prandini, Giani, Khatra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Lombardi, Di Pasquale, Dellapina, Clemente, Lambertini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Clemente Andrea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48203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92618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Settembre-Ottobre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Settembre-Novembre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Settembre-Novembre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91526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24143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REGGIO EMILIA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Formula Week-End e 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Modena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548568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Rossi Daniele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Scognamiglio Paola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179180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Docente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Rossi Daniele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Scognamiglio, Selmi, Pazzi, Greco, Benatti, Gorelli, Santoro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33390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586876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Settembre-Ottobre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Ottobre-Dicembre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050846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620441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BOLOGNA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Formula Week-End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Ferrara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Formula Week-End e 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457256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Santoro Tecla Natasha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Gnani Giorgio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159287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Santoro, Massone, Bianchini, Tawfik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Gnani, Pazzi, Massone, Scognamiglio, Schino, Crescentini, Santoro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89317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153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Settembre-Ottobre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Novembre-Dicembre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202084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395975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R1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Ravenna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Formula Week-End e 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 dirty="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196721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Schino Francesco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Fanucci Massimo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735805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Docente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Schino, Righi, Greco, Saudelli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Fanucci, Ravaioli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484545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794011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Ottobre-Novembre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Ottobre-Novembre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 dirty="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1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51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AF39161-075A-AD76-FB3A-9A0DA312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4D4AD4C9-F85C-D8AB-DC4C-D958F18A2E32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F038CB1C-0AB2-547B-A703-26CC305DEA03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1C11EF19-FA8B-0BCD-78C2-2368B57A24E7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Formazione agli UG Regionali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5BF09AE6-1C61-063B-78F1-7D1C4A7E8A1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76A247D-8554-4E0B-34F7-E0AD4439015C}"/>
              </a:ext>
            </a:extLst>
          </p:cNvPr>
          <p:cNvSpPr txBox="1"/>
          <p:nvPr/>
        </p:nvSpPr>
        <p:spPr>
          <a:xfrm>
            <a:off x="770467" y="829216"/>
            <a:ext cx="97976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Raduno pre-campionato con lezioni in plenaria e lezioni dedicate per gruppi;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Raduno di recupero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3 Riunioni Tecniche Regionali con un argomento tecnico discusso e interventi delle commissioni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Torneo incentivante Presepe delle Marineria (Cesenatico) con lezioni frontali, in palestra e arbitraggi (27 arbitri convocati);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Corso Incentivante Nazionale Memorial Campesan (Montegrotto Terme) con lezioni frontali, arbitraggi e osservazioni (nr. 8 arbitri convocati);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Incontro con gli arbitri di Gruppo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Incontro con gli arbitri Neo Immessi al ruolo Regionale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Incontro con gli arbitri Neo Immessi a Gruppo 1 (passaggi infrannuali)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C9B0AE4-51D4-935E-7910-63C7E9E5172A}"/>
              </a:ext>
            </a:extLst>
          </p:cNvPr>
          <p:cNvSpPr txBox="1"/>
          <p:nvPr/>
        </p:nvSpPr>
        <p:spPr>
          <a:xfrm>
            <a:off x="1563477" y="3905201"/>
            <a:ext cx="97976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Novità regolamentari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Gestione dell’errore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Tecnica del secondo e pratica in campo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Forma dell’arbitro (dalla tecnica agli aspetti burocratici)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Test formativi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L’autoanalisi sulle proprie prestazioni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Comunicazione non verbale</a:t>
            </a:r>
          </a:p>
        </p:txBody>
      </p:sp>
      <p:sp>
        <p:nvSpPr>
          <p:cNvPr id="5" name="Google Shape;86;p1">
            <a:extLst>
              <a:ext uri="{FF2B5EF4-FFF2-40B4-BE49-F238E27FC236}">
                <a16:creationId xmlns:a16="http://schemas.microsoft.com/office/drawing/2014/main" id="{5B289F04-9DA0-BC84-5125-9365C92A488E}"/>
              </a:ext>
            </a:extLst>
          </p:cNvPr>
          <p:cNvSpPr txBox="1"/>
          <p:nvPr/>
        </p:nvSpPr>
        <p:spPr>
          <a:xfrm>
            <a:off x="2356486" y="3269133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Argomenti trattati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  <p:extLst>
      <p:ext uri="{BB962C8B-B14F-4D97-AF65-F5344CB8AC3E}">
        <p14:creationId xmlns:p14="http://schemas.microsoft.com/office/powerpoint/2010/main" val="254597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880FA986-E245-D1E6-1673-0C071C1F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F9AA8F01-71C6-9ED8-9184-324DAFCBF8AE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7B5FD44C-3915-8A84-34C5-CFCAD6E56386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F2D6A3D4-7E24-13AC-F57E-009DA7E3C023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Titolo presentazione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1654FBDF-5C18-C86A-3BD8-F4F32637A8D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46038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723CC14F-3C50-9AB3-2CE1-C0D83CA5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4FD2AB8-7CC8-924B-D73D-5ADB87851633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D0763F71-FA1C-C7E9-B13B-8C9735C409ED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1547996D-AB4E-00B6-4415-A3FC4F28879E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Titolo presentazione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5B556A49-5D17-42DB-158B-7FDE55E6119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63497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D4F3170-18D5-4243-DD47-01E54BC0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8E83DE4-AFE9-8893-9A70-9DBEC7037907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5B060F00-8E26-E33F-1A1A-9CFD6A47B782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D7E55BCC-83F2-2000-A232-42AC28F1B5E0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Titolo presentazione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2087AA31-C39A-68CB-F9D0-4E6D4EADD6F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42158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Widescreen</PresentationFormat>
  <Paragraphs>252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Roboto</vt:lpstr>
      <vt:lpstr>Calibri</vt:lpstr>
      <vt:lpstr>Play</vt:lpstr>
      <vt:lpstr>Aharoni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Natasha Tecla Santoro</dc:creator>
  <cp:lastModifiedBy>Natasha Tecla Santoro</cp:lastModifiedBy>
  <cp:revision>1</cp:revision>
  <dcterms:created xsi:type="dcterms:W3CDTF">2025-09-09T08:41:21Z</dcterms:created>
  <dcterms:modified xsi:type="dcterms:W3CDTF">2026-02-12T16:44:21Z</dcterms:modified>
</cp:coreProperties>
</file>